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sn:
"Ham veride 3.000 alarm var. Biz bunları silmiyoruz; operatöre anlam kazandırıyoruz. Correlation engine her alarmı kanıtlarıyla değerlendiriyor ve 1.015 alarmı olaya bağlıyor, 1.664 alarmı gürültü adayı, 321 alarmı ise belirsiz bırakıyor. Buradaki temel prensibimiz: alarmın severity'si değil, başka sinyallerle kurabildiğimiz neden-sonuç ilişkisi."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35–40 sn:
"Peki bu üç sınıfa neye göre ayırıyoruz? Her alarm için zaman, topoloji, servis bağımlılığı, mesaj hedefi, tekrar/trend davranışı ve neden-sonuç sırasını birlikte değerlendiriyoruz. Mesaj hedefinin dependency graph'ta doğrulanması gibi güçlü kanıtlar daha yüksek puan alıyor. En iyi skor 8'in üzerindeyse ve ikinci adaydan net şekilde ayrışıyorsa alarm olaya bağlanıyor. Kanıtlar birbirine yakınsa zorla karar vermiyoruz; belirsiz bırakıyoruz. Hiçbir anlamlı bağ yoksa gürültü adayı oluyor."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25–30 sn:
"Buradaki kritik nokta şu: kararı LLM vermiyor. Correlation engine deterministic olarak kanıtları hesaplıyor ve sınıflandırmayı yapıyor. AI yalnızca bu hesaplanmış kanıtı root cause gerekçesi, karşı olasılık ve ilk aksiyon şeklinde okunabilir bir anlatıya dönüştürüyor. Yani correlation engine karar veriyor, AI açıklıyor, operatör aksiyon alıyor."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0D6C7"/>
          </a:solidFill>
          <a:ln w="12700">
            <a:solidFill>
              <a:srgbClr val="20D6C7"/>
            </a:solidFill>
            <a:prstDash val="solid"/>
          </a:ln>
        </p:spPr>
      </p:sp>
      <p:sp>
        <p:nvSpPr>
          <p:cNvPr id="3" name="Text 1"/>
          <p:cNvSpPr/>
          <p:nvPr/>
        </p:nvSpPr>
        <p:spPr>
          <a:xfrm>
            <a:off x="502920" y="6528816"/>
            <a:ext cx="4389120" cy="164592"/>
          </a:xfrm>
          <a:prstGeom prst="rect">
            <a:avLst/>
          </a:prstGeom>
          <a:noFill/>
          <a:ln/>
        </p:spPr>
        <p:txBody>
          <a:bodyPr wrap="square" lIns="0" tIns="0" rIns="0" bIns="0" rtlCol="0" anchor="ctr"/>
          <a:lstStyle/>
          <a:p>
            <a:pPr indent="0" marL="0">
              <a:buNone/>
            </a:pPr>
            <a:r>
              <a:rPr lang="en-US" sz="850" spc="110" kern="0" dirty="0">
                <a:solidFill>
                  <a:srgbClr val="6F8299"/>
                </a:solidFill>
                <a:latin typeface="Aptos" pitchFamily="34" charset="0"/>
                <a:ea typeface="Aptos" pitchFamily="34" charset="-122"/>
                <a:cs typeface="Aptos" pitchFamily="34" charset="-120"/>
              </a:rPr>
              <a:t>ASI-OPS  •  AO HACKATHON 2026</a:t>
            </a:r>
            <a:endParaRPr lang="en-US" sz="850" dirty="0"/>
          </a:p>
        </p:txBody>
      </p:sp>
      <p:sp>
        <p:nvSpPr>
          <p:cNvPr id="4" name="Text 2"/>
          <p:cNvSpPr/>
          <p:nvPr/>
        </p:nvSpPr>
        <p:spPr>
          <a:xfrm>
            <a:off x="9601200" y="6528816"/>
            <a:ext cx="2103120" cy="164592"/>
          </a:xfrm>
          <a:prstGeom prst="rect">
            <a:avLst/>
          </a:prstGeom>
          <a:noFill/>
          <a:ln/>
        </p:spPr>
        <p:txBody>
          <a:bodyPr wrap="square" lIns="0" tIns="0" rIns="0" bIns="0" rtlCol="0" anchor="ctr"/>
          <a:lstStyle/>
          <a:p>
            <a:pPr algn="r" indent="0" marL="0">
              <a:buNone/>
            </a:pPr>
            <a:r>
              <a:rPr lang="en-US" sz="850" dirty="0">
                <a:solidFill>
                  <a:srgbClr val="6F8299"/>
                </a:solidFill>
                <a:latin typeface="Aptos" pitchFamily="34" charset="0"/>
                <a:ea typeface="Aptos" pitchFamily="34" charset="-122"/>
                <a:cs typeface="Aptos" pitchFamily="34" charset="-120"/>
              </a:rPr>
              <a:t>Alarmdan karara.</a:t>
            </a:r>
            <a:endParaRPr lang="en-US" sz="850" dirty="0"/>
          </a:p>
        </p:txBody>
      </p:sp>
      <p:sp>
        <p:nvSpPr>
          <p:cNvPr id="25" name="Slide Number Placeholder 0"/>
          <p:cNvSpPr>
            <a:spLocks noGrp="1"/>
          </p:cNvSpPr>
          <p:nvPr>
            <p:ph type="sldNum" sz="quarter" idx="4294967295"/>
          </p:nvPr>
        </p:nvSpPr>
        <p:spPr>
          <a:xfrm>
            <a:off x="11686032" y="6519672"/>
            <a:ext cx="228600" cy="164592"/>
          </a:xfrm>
          <a:prstGeom prst="rect">
            <a:avLst/>
          </a:prstGeom>
          <a:extLst>
            <a:ext uri="{C572A759-6A51-4108-AA02-DFA0A04FC94B}">
              <ma14:wrappingTextBoxFlag xmlns:ma14="http://schemas.microsoft.com/office/mac/drawingml/2011/main" val="0"/>
            </a:ext>
          </a:extLst>
        </p:spPr>
        <p:txBody>
          <a:bodyPr/>
          <a:lstStyle>
            <a:lvl1pPr>
              <a:defRPr sz="850">
                <a:solidFill>
                  <a:srgbClr val="6F8299"/>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519672"/>
            <a:ext cx="228600" cy="164592"/>
          </a:xfrm>
          <a:prstGeom prst="rect">
            <a:avLst/>
          </a:prstGeom>
          <a:extLst>
            <a:ext uri="{C572A759-6A51-4108-AA02-DFA0A04FC94B}">
              <ma14:wrappingTextBoxFlag xmlns:ma14="http://schemas.microsoft.com/office/mac/drawingml/2011/main" val="0"/>
            </a:ext>
          </a:extLst>
        </p:spPr>
        <p:txBody>
          <a:bodyPr/>
          <a:lstStyle>
            <a:lvl1pPr>
              <a:defRPr sz="850">
                <a:solidFill>
                  <a:srgbClr val="6F8299"/>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30352" y="347472"/>
            <a:ext cx="3840480" cy="219456"/>
          </a:xfrm>
          <a:prstGeom prst="rect">
            <a:avLst/>
          </a:prstGeom>
          <a:noFill/>
          <a:ln/>
        </p:spPr>
        <p:txBody>
          <a:bodyPr wrap="square" lIns="0" tIns="0" rIns="0" bIns="0" rtlCol="0" anchor="ctr"/>
          <a:lstStyle/>
          <a:p>
            <a:pPr indent="0" marL="0">
              <a:buNone/>
            </a:pPr>
            <a:r>
              <a:rPr lang="en-US" sz="1000" b="1" spc="170" kern="0" dirty="0">
                <a:solidFill>
                  <a:srgbClr val="20D6C7"/>
                </a:solidFill>
              </a:rPr>
              <a:t>1 — NEYI ÇÖZÜYORUZ?</a:t>
            </a:r>
            <a:endParaRPr lang="en-US" sz="1000" dirty="0"/>
          </a:p>
        </p:txBody>
      </p:sp>
      <p:sp>
        <p:nvSpPr>
          <p:cNvPr id="3" name="Text 1"/>
          <p:cNvSpPr/>
          <p:nvPr/>
        </p:nvSpPr>
        <p:spPr>
          <a:xfrm>
            <a:off x="530352" y="658368"/>
            <a:ext cx="10881360" cy="502920"/>
          </a:xfrm>
          <a:prstGeom prst="rect">
            <a:avLst/>
          </a:prstGeom>
          <a:noFill/>
          <a:ln/>
        </p:spPr>
        <p:txBody>
          <a:bodyPr wrap="square" lIns="0" tIns="0" rIns="0" bIns="0" rtlCol="0" anchor="ctr"/>
          <a:lstStyle/>
          <a:p>
            <a:pPr indent="0" marL="0">
              <a:buNone/>
            </a:pPr>
            <a:r>
              <a:rPr lang="en-US" sz="2700" b="1" dirty="0">
                <a:solidFill>
                  <a:srgbClr val="F6F9FC"/>
                </a:solidFill>
              </a:rPr>
              <a:t>3.000 alarmı üç operasyonel sınıfa indiriyoruz</a:t>
            </a:r>
            <a:endParaRPr lang="en-US" sz="2700" dirty="0"/>
          </a:p>
        </p:txBody>
      </p:sp>
      <p:sp>
        <p:nvSpPr>
          <p:cNvPr id="4" name="Text 2"/>
          <p:cNvSpPr/>
          <p:nvPr/>
        </p:nvSpPr>
        <p:spPr>
          <a:xfrm>
            <a:off x="530352" y="1225296"/>
            <a:ext cx="10881360" cy="329184"/>
          </a:xfrm>
          <a:prstGeom prst="rect">
            <a:avLst/>
          </a:prstGeom>
          <a:noFill/>
          <a:ln/>
        </p:spPr>
        <p:txBody>
          <a:bodyPr wrap="square" lIns="0" tIns="0" rIns="0" bIns="0" rtlCol="0" anchor="ctr"/>
          <a:lstStyle/>
          <a:p>
            <a:pPr indent="0" marL="0">
              <a:buNone/>
            </a:pPr>
            <a:r>
              <a:rPr lang="en-US" sz="1350" dirty="0">
                <a:solidFill>
                  <a:srgbClr val="9FB0C3"/>
                </a:solidFill>
              </a:rPr>
              <a:t>Amaç alarm silmek değil; operatöre hangi alarmın aksiyon gerektirdiğini açıklamak.</a:t>
            </a:r>
            <a:endParaRPr lang="en-US" sz="1350" dirty="0"/>
          </a:p>
        </p:txBody>
      </p:sp>
      <p:sp>
        <p:nvSpPr>
          <p:cNvPr id="5" name="Shape 3"/>
          <p:cNvSpPr/>
          <p:nvPr/>
        </p:nvSpPr>
        <p:spPr>
          <a:xfrm>
            <a:off x="914400" y="1965960"/>
            <a:ext cx="2423160" cy="1325880"/>
          </a:xfrm>
          <a:prstGeom prst="roundRect">
            <a:avLst>
              <a:gd name="adj" fmla="val 6897"/>
            </a:avLst>
          </a:prstGeom>
          <a:solidFill>
            <a:srgbClr val="11243A"/>
          </a:solidFill>
          <a:ln w="12700">
            <a:solidFill>
              <a:srgbClr val="22354D"/>
            </a:solidFill>
            <a:prstDash val="solid"/>
          </a:ln>
        </p:spPr>
      </p:sp>
      <p:sp>
        <p:nvSpPr>
          <p:cNvPr id="6" name="Text 4"/>
          <p:cNvSpPr/>
          <p:nvPr/>
        </p:nvSpPr>
        <p:spPr>
          <a:xfrm>
            <a:off x="1097280" y="2176272"/>
            <a:ext cx="2057400" cy="475488"/>
          </a:xfrm>
          <a:prstGeom prst="rect">
            <a:avLst/>
          </a:prstGeom>
          <a:noFill/>
          <a:ln/>
        </p:spPr>
        <p:txBody>
          <a:bodyPr wrap="square" lIns="0" tIns="0" rIns="0" bIns="0" rtlCol="0" anchor="ctr"/>
          <a:lstStyle/>
          <a:p>
            <a:pPr algn="ctr" indent="0" marL="0">
              <a:buNone/>
            </a:pPr>
            <a:r>
              <a:rPr lang="en-US" sz="3400" b="1" dirty="0">
                <a:solidFill>
                  <a:srgbClr val="F6F9FC"/>
                </a:solidFill>
              </a:rPr>
              <a:t>3.000</a:t>
            </a:r>
            <a:endParaRPr lang="en-US" sz="3400" dirty="0"/>
          </a:p>
        </p:txBody>
      </p:sp>
      <p:sp>
        <p:nvSpPr>
          <p:cNvPr id="7" name="Text 5"/>
          <p:cNvSpPr/>
          <p:nvPr/>
        </p:nvSpPr>
        <p:spPr>
          <a:xfrm>
            <a:off x="1097280" y="2734056"/>
            <a:ext cx="2057400" cy="228600"/>
          </a:xfrm>
          <a:prstGeom prst="rect">
            <a:avLst/>
          </a:prstGeom>
          <a:noFill/>
          <a:ln/>
        </p:spPr>
        <p:txBody>
          <a:bodyPr wrap="square" lIns="0" tIns="0" rIns="0" bIns="0" rtlCol="0" anchor="ctr"/>
          <a:lstStyle/>
          <a:p>
            <a:pPr algn="ctr" indent="0" marL="0">
              <a:buNone/>
            </a:pPr>
            <a:r>
              <a:rPr lang="en-US" sz="1200" b="1" spc="120" kern="0" dirty="0">
                <a:solidFill>
                  <a:srgbClr val="9FB0C3"/>
                </a:solidFill>
              </a:rPr>
              <a:t>HAM ALARM</a:t>
            </a:r>
            <a:endParaRPr lang="en-US" sz="1200" dirty="0"/>
          </a:p>
        </p:txBody>
      </p:sp>
      <p:sp>
        <p:nvSpPr>
          <p:cNvPr id="8" name="Shape 6"/>
          <p:cNvSpPr/>
          <p:nvPr/>
        </p:nvSpPr>
        <p:spPr>
          <a:xfrm>
            <a:off x="3611880" y="2313432"/>
            <a:ext cx="502920" cy="566928"/>
          </a:xfrm>
          <a:prstGeom prst="chevron">
            <a:avLst/>
          </a:prstGeom>
          <a:solidFill>
            <a:srgbClr val="20D6C7"/>
          </a:solidFill>
          <a:ln w="12700">
            <a:solidFill>
              <a:srgbClr val="20D6C7"/>
            </a:solidFill>
            <a:prstDash val="solid"/>
          </a:ln>
        </p:spPr>
      </p:sp>
      <p:sp>
        <p:nvSpPr>
          <p:cNvPr id="9" name="Shape 7"/>
          <p:cNvSpPr/>
          <p:nvPr/>
        </p:nvSpPr>
        <p:spPr>
          <a:xfrm>
            <a:off x="4315968" y="1965960"/>
            <a:ext cx="2788920" cy="1325880"/>
          </a:xfrm>
          <a:prstGeom prst="roundRect">
            <a:avLst>
              <a:gd name="adj" fmla="val 6897"/>
            </a:avLst>
          </a:prstGeom>
          <a:solidFill>
            <a:srgbClr val="0D1B2D"/>
          </a:solidFill>
          <a:ln w="12700">
            <a:solidFill>
              <a:srgbClr val="22354D"/>
            </a:solidFill>
            <a:prstDash val="solid"/>
          </a:ln>
        </p:spPr>
      </p:sp>
      <p:sp>
        <p:nvSpPr>
          <p:cNvPr id="10" name="Text 8"/>
          <p:cNvSpPr/>
          <p:nvPr/>
        </p:nvSpPr>
        <p:spPr>
          <a:xfrm>
            <a:off x="4572000" y="2212848"/>
            <a:ext cx="2286000" cy="566928"/>
          </a:xfrm>
          <a:prstGeom prst="rect">
            <a:avLst/>
          </a:prstGeom>
          <a:noFill/>
          <a:ln/>
        </p:spPr>
        <p:txBody>
          <a:bodyPr wrap="square" lIns="0" tIns="0" rIns="0" bIns="0" rtlCol="0" anchor="ctr"/>
          <a:lstStyle/>
          <a:p>
            <a:pPr algn="ctr" indent="0" marL="0">
              <a:buNone/>
            </a:pPr>
            <a:r>
              <a:rPr lang="en-US" sz="1800" b="1" dirty="0">
                <a:solidFill>
                  <a:srgbClr val="20D6C7"/>
                </a:solidFill>
              </a:rPr>
              <a:t>CORRELATION</a:t>
            </a:r>
            <a:endParaRPr lang="en-US" sz="1800" dirty="0"/>
          </a:p>
          <a:p>
            <a:pPr algn="ctr" indent="0" marL="0">
              <a:buNone/>
            </a:pPr>
            <a:r>
              <a:rPr lang="en-US" sz="1800" b="1" dirty="0">
                <a:solidFill>
                  <a:srgbClr val="20D6C7"/>
                </a:solidFill>
              </a:rPr>
              <a:t>ENGINE</a:t>
            </a:r>
            <a:endParaRPr lang="en-US" sz="1800" dirty="0"/>
          </a:p>
        </p:txBody>
      </p:sp>
      <p:sp>
        <p:nvSpPr>
          <p:cNvPr id="11" name="Text 9"/>
          <p:cNvSpPr/>
          <p:nvPr/>
        </p:nvSpPr>
        <p:spPr>
          <a:xfrm>
            <a:off x="4535424" y="2880360"/>
            <a:ext cx="2340864" cy="201168"/>
          </a:xfrm>
          <a:prstGeom prst="rect">
            <a:avLst/>
          </a:prstGeom>
          <a:noFill/>
          <a:ln/>
        </p:spPr>
        <p:txBody>
          <a:bodyPr wrap="square" lIns="0" tIns="0" rIns="0" bIns="0" rtlCol="0" anchor="ctr"/>
          <a:lstStyle/>
          <a:p>
            <a:pPr algn="ctr" indent="0" marL="0">
              <a:buNone/>
            </a:pPr>
            <a:r>
              <a:rPr lang="en-US" sz="1050" dirty="0">
                <a:solidFill>
                  <a:srgbClr val="9FB0C3"/>
                </a:solidFill>
              </a:rPr>
              <a:t>kanıt toplar • puanlar • ayırır</a:t>
            </a:r>
            <a:endParaRPr lang="en-US" sz="1050" dirty="0"/>
          </a:p>
        </p:txBody>
      </p:sp>
      <p:sp>
        <p:nvSpPr>
          <p:cNvPr id="12" name="Shape 10"/>
          <p:cNvSpPr/>
          <p:nvPr/>
        </p:nvSpPr>
        <p:spPr>
          <a:xfrm>
            <a:off x="7360920" y="2313432"/>
            <a:ext cx="502920" cy="566928"/>
          </a:xfrm>
          <a:prstGeom prst="chevron">
            <a:avLst/>
          </a:prstGeom>
          <a:solidFill>
            <a:srgbClr val="20D6C7"/>
          </a:solidFill>
          <a:ln w="12700">
            <a:solidFill>
              <a:srgbClr val="20D6C7"/>
            </a:solidFill>
            <a:prstDash val="solid"/>
          </a:ln>
        </p:spPr>
      </p:sp>
      <p:sp>
        <p:nvSpPr>
          <p:cNvPr id="13" name="Shape 11"/>
          <p:cNvSpPr/>
          <p:nvPr/>
        </p:nvSpPr>
        <p:spPr>
          <a:xfrm>
            <a:off x="8092440" y="1783080"/>
            <a:ext cx="3566160" cy="658368"/>
          </a:xfrm>
          <a:prstGeom prst="roundRect">
            <a:avLst>
              <a:gd name="adj" fmla="val 13889"/>
            </a:avLst>
          </a:prstGeom>
          <a:solidFill>
            <a:srgbClr val="0D1B2D"/>
          </a:solidFill>
          <a:ln w="12700">
            <a:solidFill>
              <a:srgbClr val="22354D"/>
            </a:solidFill>
            <a:prstDash val="solid"/>
          </a:ln>
        </p:spPr>
      </p:sp>
      <p:sp>
        <p:nvSpPr>
          <p:cNvPr id="14" name="Shape 12"/>
          <p:cNvSpPr/>
          <p:nvPr/>
        </p:nvSpPr>
        <p:spPr>
          <a:xfrm>
            <a:off x="8092440" y="1783080"/>
            <a:ext cx="73152" cy="658368"/>
          </a:xfrm>
          <a:prstGeom prst="rect">
            <a:avLst/>
          </a:prstGeom>
          <a:solidFill>
            <a:srgbClr val="44D18C"/>
          </a:solidFill>
          <a:ln w="12700">
            <a:solidFill>
              <a:srgbClr val="44D18C"/>
            </a:solidFill>
            <a:prstDash val="solid"/>
          </a:ln>
        </p:spPr>
      </p:sp>
      <p:sp>
        <p:nvSpPr>
          <p:cNvPr id="15" name="Text 13"/>
          <p:cNvSpPr/>
          <p:nvPr/>
        </p:nvSpPr>
        <p:spPr>
          <a:xfrm>
            <a:off x="8302752" y="1892808"/>
            <a:ext cx="777240" cy="283464"/>
          </a:xfrm>
          <a:prstGeom prst="rect">
            <a:avLst/>
          </a:prstGeom>
          <a:noFill/>
          <a:ln/>
        </p:spPr>
        <p:txBody>
          <a:bodyPr wrap="square" lIns="0" tIns="0" rIns="0" bIns="0" rtlCol="0" anchor="ctr"/>
          <a:lstStyle/>
          <a:p>
            <a:pPr indent="0" marL="0">
              <a:buNone/>
            </a:pPr>
            <a:r>
              <a:rPr lang="en-US" sz="2000" b="1" dirty="0">
                <a:solidFill>
                  <a:srgbClr val="44D18C"/>
                </a:solidFill>
              </a:rPr>
              <a:t>1.015</a:t>
            </a:r>
            <a:endParaRPr lang="en-US" sz="2000" dirty="0"/>
          </a:p>
        </p:txBody>
      </p:sp>
      <p:sp>
        <p:nvSpPr>
          <p:cNvPr id="16" name="Text 14"/>
          <p:cNvSpPr/>
          <p:nvPr/>
        </p:nvSpPr>
        <p:spPr>
          <a:xfrm>
            <a:off x="9079992" y="1883664"/>
            <a:ext cx="2331720" cy="182880"/>
          </a:xfrm>
          <a:prstGeom prst="rect">
            <a:avLst/>
          </a:prstGeom>
          <a:noFill/>
          <a:ln/>
        </p:spPr>
        <p:txBody>
          <a:bodyPr wrap="square" lIns="0" tIns="0" rIns="0" bIns="0" rtlCol="0" anchor="ctr"/>
          <a:lstStyle/>
          <a:p>
            <a:pPr indent="0" marL="0">
              <a:buNone/>
            </a:pPr>
            <a:r>
              <a:rPr lang="en-US" sz="1050" b="1" spc="60" kern="0" dirty="0">
                <a:solidFill>
                  <a:srgbClr val="F6F9FC"/>
                </a:solidFill>
              </a:rPr>
              <a:t>OLAYLA İLİŞKİLİ</a:t>
            </a:r>
            <a:endParaRPr lang="en-US" sz="1050" dirty="0"/>
          </a:p>
        </p:txBody>
      </p:sp>
      <p:sp>
        <p:nvSpPr>
          <p:cNvPr id="17" name="Text 15"/>
          <p:cNvSpPr/>
          <p:nvPr/>
        </p:nvSpPr>
        <p:spPr>
          <a:xfrm>
            <a:off x="9079992" y="2130552"/>
            <a:ext cx="2331720" cy="146304"/>
          </a:xfrm>
          <a:prstGeom prst="rect">
            <a:avLst/>
          </a:prstGeom>
          <a:noFill/>
          <a:ln/>
        </p:spPr>
        <p:txBody>
          <a:bodyPr wrap="square" lIns="0" tIns="0" rIns="0" bIns="0" rtlCol="0" anchor="ctr"/>
          <a:lstStyle/>
          <a:p>
            <a:pPr indent="0" marL="0">
              <a:buNone/>
            </a:pPr>
            <a:r>
              <a:rPr lang="en-US" sz="950" dirty="0">
                <a:solidFill>
                  <a:srgbClr val="9FB0C3"/>
                </a:solidFill>
              </a:rPr>
              <a:t>Incident zincirine bağlandı</a:t>
            </a:r>
            <a:endParaRPr lang="en-US" sz="950" dirty="0"/>
          </a:p>
        </p:txBody>
      </p:sp>
      <p:sp>
        <p:nvSpPr>
          <p:cNvPr id="18" name="Shape 16"/>
          <p:cNvSpPr/>
          <p:nvPr/>
        </p:nvSpPr>
        <p:spPr>
          <a:xfrm>
            <a:off x="8092440" y="2578608"/>
            <a:ext cx="3566160" cy="658368"/>
          </a:xfrm>
          <a:prstGeom prst="roundRect">
            <a:avLst>
              <a:gd name="adj" fmla="val 13889"/>
            </a:avLst>
          </a:prstGeom>
          <a:solidFill>
            <a:srgbClr val="0D1B2D"/>
          </a:solidFill>
          <a:ln w="12700">
            <a:solidFill>
              <a:srgbClr val="22354D"/>
            </a:solidFill>
            <a:prstDash val="solid"/>
          </a:ln>
        </p:spPr>
      </p:sp>
      <p:sp>
        <p:nvSpPr>
          <p:cNvPr id="19" name="Shape 17"/>
          <p:cNvSpPr/>
          <p:nvPr/>
        </p:nvSpPr>
        <p:spPr>
          <a:xfrm>
            <a:off x="8092440" y="2578608"/>
            <a:ext cx="73152" cy="658368"/>
          </a:xfrm>
          <a:prstGeom prst="rect">
            <a:avLst/>
          </a:prstGeom>
          <a:solidFill>
            <a:srgbClr val="FFB84D"/>
          </a:solidFill>
          <a:ln w="12700">
            <a:solidFill>
              <a:srgbClr val="FFB84D"/>
            </a:solidFill>
            <a:prstDash val="solid"/>
          </a:ln>
        </p:spPr>
      </p:sp>
      <p:sp>
        <p:nvSpPr>
          <p:cNvPr id="20" name="Text 18"/>
          <p:cNvSpPr/>
          <p:nvPr/>
        </p:nvSpPr>
        <p:spPr>
          <a:xfrm>
            <a:off x="8302752" y="2688336"/>
            <a:ext cx="777240" cy="283464"/>
          </a:xfrm>
          <a:prstGeom prst="rect">
            <a:avLst/>
          </a:prstGeom>
          <a:noFill/>
          <a:ln/>
        </p:spPr>
        <p:txBody>
          <a:bodyPr wrap="square" lIns="0" tIns="0" rIns="0" bIns="0" rtlCol="0" anchor="ctr"/>
          <a:lstStyle/>
          <a:p>
            <a:pPr indent="0" marL="0">
              <a:buNone/>
            </a:pPr>
            <a:r>
              <a:rPr lang="en-US" sz="2000" b="1" dirty="0">
                <a:solidFill>
                  <a:srgbClr val="FFB84D"/>
                </a:solidFill>
              </a:rPr>
              <a:t>1.664</a:t>
            </a:r>
            <a:endParaRPr lang="en-US" sz="2000" dirty="0"/>
          </a:p>
        </p:txBody>
      </p:sp>
      <p:sp>
        <p:nvSpPr>
          <p:cNvPr id="21" name="Text 19"/>
          <p:cNvSpPr/>
          <p:nvPr/>
        </p:nvSpPr>
        <p:spPr>
          <a:xfrm>
            <a:off x="9079992" y="2679192"/>
            <a:ext cx="2331720" cy="182880"/>
          </a:xfrm>
          <a:prstGeom prst="rect">
            <a:avLst/>
          </a:prstGeom>
          <a:noFill/>
          <a:ln/>
        </p:spPr>
        <p:txBody>
          <a:bodyPr wrap="square" lIns="0" tIns="0" rIns="0" bIns="0" rtlCol="0" anchor="ctr"/>
          <a:lstStyle/>
          <a:p>
            <a:pPr indent="0" marL="0">
              <a:buNone/>
            </a:pPr>
            <a:r>
              <a:rPr lang="en-US" sz="1050" b="1" spc="60" kern="0" dirty="0">
                <a:solidFill>
                  <a:srgbClr val="F6F9FC"/>
                </a:solidFill>
              </a:rPr>
              <a:t>GÜRÜLTÜ ADAYI</a:t>
            </a:r>
            <a:endParaRPr lang="en-US" sz="1050" dirty="0"/>
          </a:p>
        </p:txBody>
      </p:sp>
      <p:sp>
        <p:nvSpPr>
          <p:cNvPr id="22" name="Text 20"/>
          <p:cNvSpPr/>
          <p:nvPr/>
        </p:nvSpPr>
        <p:spPr>
          <a:xfrm>
            <a:off x="9079992" y="2926080"/>
            <a:ext cx="2331720" cy="146304"/>
          </a:xfrm>
          <a:prstGeom prst="rect">
            <a:avLst/>
          </a:prstGeom>
          <a:noFill/>
          <a:ln/>
        </p:spPr>
        <p:txBody>
          <a:bodyPr wrap="square" lIns="0" tIns="0" rIns="0" bIns="0" rtlCol="0" anchor="ctr"/>
          <a:lstStyle/>
          <a:p>
            <a:pPr indent="0" marL="0">
              <a:buNone/>
            </a:pPr>
            <a:r>
              <a:rPr lang="en-US" sz="950" dirty="0">
                <a:solidFill>
                  <a:srgbClr val="9FB0C3"/>
                </a:solidFill>
              </a:rPr>
              <a:t>Olayla ilişki kanıtı yok</a:t>
            </a:r>
            <a:endParaRPr lang="en-US" sz="950" dirty="0"/>
          </a:p>
        </p:txBody>
      </p:sp>
      <p:sp>
        <p:nvSpPr>
          <p:cNvPr id="23" name="Shape 21"/>
          <p:cNvSpPr/>
          <p:nvPr/>
        </p:nvSpPr>
        <p:spPr>
          <a:xfrm>
            <a:off x="8092440" y="3374136"/>
            <a:ext cx="3566160" cy="658368"/>
          </a:xfrm>
          <a:prstGeom prst="roundRect">
            <a:avLst>
              <a:gd name="adj" fmla="val 13889"/>
            </a:avLst>
          </a:prstGeom>
          <a:solidFill>
            <a:srgbClr val="0D1B2D"/>
          </a:solidFill>
          <a:ln w="12700">
            <a:solidFill>
              <a:srgbClr val="22354D"/>
            </a:solidFill>
            <a:prstDash val="solid"/>
          </a:ln>
        </p:spPr>
      </p:sp>
      <p:sp>
        <p:nvSpPr>
          <p:cNvPr id="24" name="Shape 22"/>
          <p:cNvSpPr/>
          <p:nvPr/>
        </p:nvSpPr>
        <p:spPr>
          <a:xfrm>
            <a:off x="8092440" y="3374136"/>
            <a:ext cx="73152" cy="658368"/>
          </a:xfrm>
          <a:prstGeom prst="rect">
            <a:avLst/>
          </a:prstGeom>
          <a:solidFill>
            <a:srgbClr val="9B8CFF"/>
          </a:solidFill>
          <a:ln w="12700">
            <a:solidFill>
              <a:srgbClr val="9B8CFF"/>
            </a:solidFill>
            <a:prstDash val="solid"/>
          </a:ln>
        </p:spPr>
      </p:sp>
      <p:sp>
        <p:nvSpPr>
          <p:cNvPr id="25" name="Text 23"/>
          <p:cNvSpPr/>
          <p:nvPr/>
        </p:nvSpPr>
        <p:spPr>
          <a:xfrm>
            <a:off x="8302752" y="3483864"/>
            <a:ext cx="777240" cy="283464"/>
          </a:xfrm>
          <a:prstGeom prst="rect">
            <a:avLst/>
          </a:prstGeom>
          <a:noFill/>
          <a:ln/>
        </p:spPr>
        <p:txBody>
          <a:bodyPr wrap="square" lIns="0" tIns="0" rIns="0" bIns="0" rtlCol="0" anchor="ctr"/>
          <a:lstStyle/>
          <a:p>
            <a:pPr indent="0" marL="0">
              <a:buNone/>
            </a:pPr>
            <a:r>
              <a:rPr lang="en-US" sz="2000" b="1" dirty="0">
                <a:solidFill>
                  <a:srgbClr val="9B8CFF"/>
                </a:solidFill>
              </a:rPr>
              <a:t>321</a:t>
            </a:r>
            <a:endParaRPr lang="en-US" sz="2000" dirty="0"/>
          </a:p>
        </p:txBody>
      </p:sp>
      <p:sp>
        <p:nvSpPr>
          <p:cNvPr id="26" name="Text 24"/>
          <p:cNvSpPr/>
          <p:nvPr/>
        </p:nvSpPr>
        <p:spPr>
          <a:xfrm>
            <a:off x="9079992" y="3474720"/>
            <a:ext cx="2331720" cy="182880"/>
          </a:xfrm>
          <a:prstGeom prst="rect">
            <a:avLst/>
          </a:prstGeom>
          <a:noFill/>
          <a:ln/>
        </p:spPr>
        <p:txBody>
          <a:bodyPr wrap="square" lIns="0" tIns="0" rIns="0" bIns="0" rtlCol="0" anchor="ctr"/>
          <a:lstStyle/>
          <a:p>
            <a:pPr indent="0" marL="0">
              <a:buNone/>
            </a:pPr>
            <a:r>
              <a:rPr lang="en-US" sz="1050" b="1" spc="60" kern="0" dirty="0">
                <a:solidFill>
                  <a:srgbClr val="F6F9FC"/>
                </a:solidFill>
              </a:rPr>
              <a:t>BELİRSİZ</a:t>
            </a:r>
            <a:endParaRPr lang="en-US" sz="1050" dirty="0"/>
          </a:p>
        </p:txBody>
      </p:sp>
      <p:sp>
        <p:nvSpPr>
          <p:cNvPr id="27" name="Text 25"/>
          <p:cNvSpPr/>
          <p:nvPr/>
        </p:nvSpPr>
        <p:spPr>
          <a:xfrm>
            <a:off x="9079992" y="3721608"/>
            <a:ext cx="2331720" cy="146304"/>
          </a:xfrm>
          <a:prstGeom prst="rect">
            <a:avLst/>
          </a:prstGeom>
          <a:noFill/>
          <a:ln/>
        </p:spPr>
        <p:txBody>
          <a:bodyPr wrap="square" lIns="0" tIns="0" rIns="0" bIns="0" rtlCol="0" anchor="ctr"/>
          <a:lstStyle/>
          <a:p>
            <a:pPr indent="0" marL="0">
              <a:buNone/>
            </a:pPr>
            <a:r>
              <a:rPr lang="en-US" sz="950" dirty="0">
                <a:solidFill>
                  <a:srgbClr val="9FB0C3"/>
                </a:solidFill>
              </a:rPr>
              <a:t>Kanıt var, karar için yetersiz</a:t>
            </a:r>
            <a:endParaRPr lang="en-US" sz="950" dirty="0"/>
          </a:p>
        </p:txBody>
      </p:sp>
      <p:sp>
        <p:nvSpPr>
          <p:cNvPr id="28" name="Shape 26"/>
          <p:cNvSpPr/>
          <p:nvPr/>
        </p:nvSpPr>
        <p:spPr>
          <a:xfrm>
            <a:off x="758952" y="4315968"/>
            <a:ext cx="10899648" cy="1124712"/>
          </a:xfrm>
          <a:prstGeom prst="roundRect">
            <a:avLst>
              <a:gd name="adj" fmla="val 8130"/>
            </a:avLst>
          </a:prstGeom>
          <a:solidFill>
            <a:srgbClr val="0A1625"/>
          </a:solidFill>
          <a:ln w="12700">
            <a:solidFill>
              <a:srgbClr val="1D3652"/>
            </a:solidFill>
            <a:prstDash val="solid"/>
          </a:ln>
        </p:spPr>
      </p:sp>
      <p:sp>
        <p:nvSpPr>
          <p:cNvPr id="29" name="Text 27"/>
          <p:cNvSpPr/>
          <p:nvPr/>
        </p:nvSpPr>
        <p:spPr>
          <a:xfrm>
            <a:off x="987552" y="4553712"/>
            <a:ext cx="1554480" cy="182880"/>
          </a:xfrm>
          <a:prstGeom prst="rect">
            <a:avLst/>
          </a:prstGeom>
          <a:noFill/>
          <a:ln/>
        </p:spPr>
        <p:txBody>
          <a:bodyPr wrap="square" lIns="0" tIns="0" rIns="0" bIns="0" rtlCol="0" anchor="ctr"/>
          <a:lstStyle/>
          <a:p>
            <a:pPr indent="0" marL="0">
              <a:buNone/>
            </a:pPr>
            <a:r>
              <a:rPr lang="en-US" sz="1000" b="1" spc="120" kern="0" dirty="0">
                <a:solidFill>
                  <a:srgbClr val="20D6C7"/>
                </a:solidFill>
              </a:rPr>
              <a:t>TEMEL PRENSİP</a:t>
            </a:r>
            <a:endParaRPr lang="en-US" sz="1000" dirty="0"/>
          </a:p>
        </p:txBody>
      </p:sp>
      <p:sp>
        <p:nvSpPr>
          <p:cNvPr id="30" name="Text 28"/>
          <p:cNvSpPr/>
          <p:nvPr/>
        </p:nvSpPr>
        <p:spPr>
          <a:xfrm>
            <a:off x="987552" y="4828032"/>
            <a:ext cx="10012680" cy="384048"/>
          </a:xfrm>
          <a:prstGeom prst="rect">
            <a:avLst/>
          </a:prstGeom>
          <a:noFill/>
          <a:ln/>
        </p:spPr>
        <p:txBody>
          <a:bodyPr wrap="square" lIns="0" tIns="0" rIns="0" bIns="0" rtlCol="0" anchor="ctr"/>
          <a:lstStyle/>
          <a:p>
            <a:pPr indent="0" marL="0">
              <a:buNone/>
            </a:pPr>
            <a:r>
              <a:rPr lang="en-US" sz="1800" b="1" dirty="0">
                <a:solidFill>
                  <a:srgbClr val="F6F9FC"/>
                </a:solidFill>
              </a:rPr>
              <a:t>“Bir alarmı önemli yapan severity’si değil; başka sinyallerle açıklanabilir bir neden–sonuç ilişkisi kurabilmemiz.”</a:t>
            </a:r>
            <a:endParaRPr lang="en-US" sz="1800" dirty="0"/>
          </a:p>
        </p:txBody>
      </p:sp>
      <p:sp>
        <p:nvSpPr>
          <p:cNvPr id="31" name="Text 29"/>
          <p:cNvSpPr/>
          <p:nvPr/>
        </p:nvSpPr>
        <p:spPr>
          <a:xfrm>
            <a:off x="987552" y="5349240"/>
            <a:ext cx="10012680" cy="228600"/>
          </a:xfrm>
          <a:prstGeom prst="rect">
            <a:avLst/>
          </a:prstGeom>
          <a:noFill/>
          <a:ln/>
        </p:spPr>
        <p:txBody>
          <a:bodyPr wrap="square" lIns="0" tIns="0" rIns="0" bIns="0" rtlCol="0" anchor="ctr"/>
          <a:lstStyle/>
          <a:p>
            <a:pPr indent="0" marL="0">
              <a:buNone/>
            </a:pPr>
            <a:r>
              <a:rPr lang="en-US" sz="1150" dirty="0">
                <a:solidFill>
                  <a:srgbClr val="9FB0C3"/>
                </a:solidFill>
              </a:rPr>
              <a:t>Hiçbir alarm silinmez; her karar gerekçesiyle audit ekranında kalır.</a:t>
            </a:r>
            <a:endParaRPr lang="en-US" sz="1150" dirty="0"/>
          </a:p>
        </p:txBody>
      </p:sp>
      <p:sp>
        <p:nvSpPr>
          <p:cNvPr id="25" name="Slide Number Placeholder 0"/>
          <p:cNvSpPr>
            <a:spLocks noGrp="1"/>
          </p:cNvSpPr>
          <p:nvPr>
            <p:ph type="sldNum" sz="quarter" idx="4294967295"/>
          </p:nvPr>
        </p:nvSpPr>
        <p:spPr>
          <a:xfrm>
            <a:off x="11686032" y="6519672"/>
            <a:ext cx="228600" cy="164592"/>
          </a:xfrm>
          <a:prstGeom prst="rect">
            <a:avLst/>
          </a:prstGeom>
          <a:extLst>
            <a:ext uri="{C572A759-6A51-4108-AA02-DFA0A04FC94B}">
              <ma14:wrappingTextBoxFlag xmlns:ma14="http://schemas.microsoft.com/office/mac/drawingml/2011/main" val="0"/>
            </a:ext>
          </a:extLst>
        </p:spPr>
        <p:txBody>
          <a:bodyPr/>
          <a:lstStyle>
            <a:lvl1pPr>
              <a:defRPr sz="850">
                <a:solidFill>
                  <a:srgbClr val="6F8299"/>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347472"/>
            <a:ext cx="3840480" cy="219456"/>
          </a:xfrm>
          <a:prstGeom prst="rect">
            <a:avLst/>
          </a:prstGeom>
          <a:noFill/>
          <a:ln/>
        </p:spPr>
        <p:txBody>
          <a:bodyPr wrap="square" lIns="0" tIns="0" rIns="0" bIns="0" rtlCol="0" anchor="ctr"/>
          <a:lstStyle/>
          <a:p>
            <a:pPr indent="0" marL="0">
              <a:buNone/>
            </a:pPr>
            <a:r>
              <a:rPr lang="en-US" sz="1000" b="1" spc="170" kern="0" dirty="0">
                <a:solidFill>
                  <a:srgbClr val="20D6C7"/>
                </a:solidFill>
              </a:rPr>
              <a:t>2 — KARARI NEYE GÖRE VERIYORUZ?</a:t>
            </a:r>
            <a:endParaRPr lang="en-US" sz="1000" dirty="0"/>
          </a:p>
        </p:txBody>
      </p:sp>
      <p:sp>
        <p:nvSpPr>
          <p:cNvPr id="3" name="Text 1"/>
          <p:cNvSpPr/>
          <p:nvPr/>
        </p:nvSpPr>
        <p:spPr>
          <a:xfrm>
            <a:off x="530352" y="658368"/>
            <a:ext cx="10881360" cy="502920"/>
          </a:xfrm>
          <a:prstGeom prst="rect">
            <a:avLst/>
          </a:prstGeom>
          <a:noFill/>
          <a:ln/>
        </p:spPr>
        <p:txBody>
          <a:bodyPr wrap="square" lIns="0" tIns="0" rIns="0" bIns="0" rtlCol="0" anchor="ctr"/>
          <a:lstStyle/>
          <a:p>
            <a:pPr indent="0" marL="0">
              <a:buNone/>
            </a:pPr>
            <a:r>
              <a:rPr lang="en-US" sz="2700" b="1" dirty="0">
                <a:solidFill>
                  <a:srgbClr val="F6F9FC"/>
                </a:solidFill>
              </a:rPr>
              <a:t>Her alarm için 6 kanıt sinyalini birlikte değerlendiriyoruz</a:t>
            </a:r>
            <a:endParaRPr lang="en-US" sz="2700" dirty="0"/>
          </a:p>
        </p:txBody>
      </p:sp>
      <p:sp>
        <p:nvSpPr>
          <p:cNvPr id="4" name="Text 2"/>
          <p:cNvSpPr/>
          <p:nvPr/>
        </p:nvSpPr>
        <p:spPr>
          <a:xfrm>
            <a:off x="530352" y="1225296"/>
            <a:ext cx="10881360" cy="329184"/>
          </a:xfrm>
          <a:prstGeom prst="rect">
            <a:avLst/>
          </a:prstGeom>
          <a:noFill/>
          <a:ln/>
        </p:spPr>
        <p:txBody>
          <a:bodyPr wrap="square" lIns="0" tIns="0" rIns="0" bIns="0" rtlCol="0" anchor="ctr"/>
          <a:lstStyle/>
          <a:p>
            <a:pPr indent="0" marL="0">
              <a:buNone/>
            </a:pPr>
            <a:r>
              <a:rPr lang="en-US" sz="1350" dirty="0">
                <a:solidFill>
                  <a:srgbClr val="9FB0C3"/>
                </a:solidFill>
              </a:rPr>
              <a:t>Zaman penceresi sadece adayları daraltır; asıl karar kanıt puanı ile verilir.</a:t>
            </a:r>
            <a:endParaRPr lang="en-US" sz="1350" dirty="0"/>
          </a:p>
        </p:txBody>
      </p:sp>
      <p:sp>
        <p:nvSpPr>
          <p:cNvPr id="5" name="Shape 3"/>
          <p:cNvSpPr/>
          <p:nvPr/>
        </p:nvSpPr>
        <p:spPr>
          <a:xfrm>
            <a:off x="658368" y="1828800"/>
            <a:ext cx="1481328" cy="1572768"/>
          </a:xfrm>
          <a:prstGeom prst="roundRect">
            <a:avLst>
              <a:gd name="adj" fmla="val 6173"/>
            </a:avLst>
          </a:prstGeom>
          <a:solidFill>
            <a:srgbClr val="0D1B2D"/>
          </a:solidFill>
          <a:ln w="12700">
            <a:solidFill>
              <a:srgbClr val="22354D"/>
            </a:solidFill>
            <a:prstDash val="solid"/>
          </a:ln>
        </p:spPr>
      </p:sp>
      <p:sp>
        <p:nvSpPr>
          <p:cNvPr id="6" name="Shape 4"/>
          <p:cNvSpPr/>
          <p:nvPr/>
        </p:nvSpPr>
        <p:spPr>
          <a:xfrm>
            <a:off x="1161288" y="1993392"/>
            <a:ext cx="457200" cy="457200"/>
          </a:xfrm>
          <a:prstGeom prst="ellipse">
            <a:avLst/>
          </a:prstGeom>
          <a:solidFill>
            <a:srgbClr val="4A9CFF">
              <a:alpha val="18000"/>
            </a:srgbClr>
          </a:solidFill>
          <a:ln w="17780">
            <a:solidFill>
              <a:srgbClr val="4A9CFF"/>
            </a:solidFill>
            <a:prstDash val="solid"/>
          </a:ln>
        </p:spPr>
      </p:sp>
      <p:sp>
        <p:nvSpPr>
          <p:cNvPr id="7" name="Text 5"/>
          <p:cNvSpPr/>
          <p:nvPr/>
        </p:nvSpPr>
        <p:spPr>
          <a:xfrm>
            <a:off x="1161288" y="2112264"/>
            <a:ext cx="457200" cy="118872"/>
          </a:xfrm>
          <a:prstGeom prst="rect">
            <a:avLst/>
          </a:prstGeom>
          <a:noFill/>
          <a:ln/>
        </p:spPr>
        <p:txBody>
          <a:bodyPr wrap="square" lIns="0" tIns="0" rIns="0" bIns="0" rtlCol="0" anchor="ctr"/>
          <a:lstStyle/>
          <a:p>
            <a:pPr algn="ctr" indent="0" marL="0">
              <a:buNone/>
            </a:pPr>
            <a:r>
              <a:rPr lang="en-US" sz="850" b="1" dirty="0">
                <a:solidFill>
                  <a:srgbClr val="4A9CFF"/>
                </a:solidFill>
              </a:rPr>
              <a:t>01</a:t>
            </a:r>
            <a:endParaRPr lang="en-US" sz="850" dirty="0"/>
          </a:p>
        </p:txBody>
      </p:sp>
      <p:sp>
        <p:nvSpPr>
          <p:cNvPr id="8" name="Text 6"/>
          <p:cNvSpPr/>
          <p:nvPr/>
        </p:nvSpPr>
        <p:spPr>
          <a:xfrm>
            <a:off x="768096" y="2606040"/>
            <a:ext cx="1261872" cy="182880"/>
          </a:xfrm>
          <a:prstGeom prst="rect">
            <a:avLst/>
          </a:prstGeom>
          <a:noFill/>
          <a:ln/>
        </p:spPr>
        <p:txBody>
          <a:bodyPr wrap="square" lIns="0" tIns="0" rIns="0" bIns="0" rtlCol="0" anchor="ctr"/>
          <a:lstStyle/>
          <a:p>
            <a:pPr algn="ctr" indent="0" marL="0">
              <a:buNone/>
            </a:pPr>
            <a:r>
              <a:rPr lang="en-US" sz="970" b="1" dirty="0">
                <a:solidFill>
                  <a:srgbClr val="F6F9FC"/>
                </a:solidFill>
              </a:rPr>
              <a:t>ZAMAN</a:t>
            </a:r>
            <a:endParaRPr lang="en-US" sz="970" dirty="0"/>
          </a:p>
        </p:txBody>
      </p:sp>
      <p:sp>
        <p:nvSpPr>
          <p:cNvPr id="9" name="Text 7"/>
          <p:cNvSpPr/>
          <p:nvPr/>
        </p:nvSpPr>
        <p:spPr>
          <a:xfrm>
            <a:off x="786384" y="2871216"/>
            <a:ext cx="1225296" cy="347472"/>
          </a:xfrm>
          <a:prstGeom prst="rect">
            <a:avLst/>
          </a:prstGeom>
          <a:noFill/>
          <a:ln/>
        </p:spPr>
        <p:txBody>
          <a:bodyPr wrap="square" lIns="0" tIns="0" rIns="0" bIns="0" rtlCol="0" anchor="ctr"/>
          <a:lstStyle/>
          <a:p>
            <a:pPr algn="ctr" indent="0" marL="0">
              <a:buNone/>
            </a:pPr>
            <a:r>
              <a:rPr lang="en-US" sz="860" dirty="0">
                <a:solidFill>
                  <a:srgbClr val="9FB0C3"/>
                </a:solidFill>
              </a:rPr>
              <a:t>Aynı olay penceresinde mi?</a:t>
            </a:r>
            <a:endParaRPr lang="en-US" sz="860" dirty="0"/>
          </a:p>
        </p:txBody>
      </p:sp>
      <p:sp>
        <p:nvSpPr>
          <p:cNvPr id="10" name="Shape 8"/>
          <p:cNvSpPr/>
          <p:nvPr/>
        </p:nvSpPr>
        <p:spPr>
          <a:xfrm>
            <a:off x="2578608" y="1828800"/>
            <a:ext cx="1481328" cy="1572768"/>
          </a:xfrm>
          <a:prstGeom prst="roundRect">
            <a:avLst>
              <a:gd name="adj" fmla="val 6173"/>
            </a:avLst>
          </a:prstGeom>
          <a:solidFill>
            <a:srgbClr val="0D1B2D"/>
          </a:solidFill>
          <a:ln w="12700">
            <a:solidFill>
              <a:srgbClr val="22354D"/>
            </a:solidFill>
            <a:prstDash val="solid"/>
          </a:ln>
        </p:spPr>
      </p:sp>
      <p:sp>
        <p:nvSpPr>
          <p:cNvPr id="11" name="Shape 9"/>
          <p:cNvSpPr/>
          <p:nvPr/>
        </p:nvSpPr>
        <p:spPr>
          <a:xfrm>
            <a:off x="3081528" y="1993392"/>
            <a:ext cx="457200" cy="457200"/>
          </a:xfrm>
          <a:prstGeom prst="ellipse">
            <a:avLst/>
          </a:prstGeom>
          <a:solidFill>
            <a:srgbClr val="20D6C7">
              <a:alpha val="18000"/>
            </a:srgbClr>
          </a:solidFill>
          <a:ln w="17780">
            <a:solidFill>
              <a:srgbClr val="20D6C7"/>
            </a:solidFill>
            <a:prstDash val="solid"/>
          </a:ln>
        </p:spPr>
      </p:sp>
      <p:sp>
        <p:nvSpPr>
          <p:cNvPr id="12" name="Text 10"/>
          <p:cNvSpPr/>
          <p:nvPr/>
        </p:nvSpPr>
        <p:spPr>
          <a:xfrm>
            <a:off x="3081528" y="2112264"/>
            <a:ext cx="457200" cy="118872"/>
          </a:xfrm>
          <a:prstGeom prst="rect">
            <a:avLst/>
          </a:prstGeom>
          <a:noFill/>
          <a:ln/>
        </p:spPr>
        <p:txBody>
          <a:bodyPr wrap="square" lIns="0" tIns="0" rIns="0" bIns="0" rtlCol="0" anchor="ctr"/>
          <a:lstStyle/>
          <a:p>
            <a:pPr algn="ctr" indent="0" marL="0">
              <a:buNone/>
            </a:pPr>
            <a:r>
              <a:rPr lang="en-US" sz="850" b="1" dirty="0">
                <a:solidFill>
                  <a:srgbClr val="20D6C7"/>
                </a:solidFill>
              </a:rPr>
              <a:t>02</a:t>
            </a:r>
            <a:endParaRPr lang="en-US" sz="850" dirty="0"/>
          </a:p>
        </p:txBody>
      </p:sp>
      <p:sp>
        <p:nvSpPr>
          <p:cNvPr id="13" name="Text 11"/>
          <p:cNvSpPr/>
          <p:nvPr/>
        </p:nvSpPr>
        <p:spPr>
          <a:xfrm>
            <a:off x="2688336" y="2606040"/>
            <a:ext cx="1261872" cy="182880"/>
          </a:xfrm>
          <a:prstGeom prst="rect">
            <a:avLst/>
          </a:prstGeom>
          <a:noFill/>
          <a:ln/>
        </p:spPr>
        <p:txBody>
          <a:bodyPr wrap="square" lIns="0" tIns="0" rIns="0" bIns="0" rtlCol="0" anchor="ctr"/>
          <a:lstStyle/>
          <a:p>
            <a:pPr algn="ctr" indent="0" marL="0">
              <a:buNone/>
            </a:pPr>
            <a:r>
              <a:rPr lang="en-US" sz="970" b="1" dirty="0">
                <a:solidFill>
                  <a:srgbClr val="F6F9FC"/>
                </a:solidFill>
              </a:rPr>
              <a:t>TOPOLOGY</a:t>
            </a:r>
            <a:endParaRPr lang="en-US" sz="970" dirty="0"/>
          </a:p>
        </p:txBody>
      </p:sp>
      <p:sp>
        <p:nvSpPr>
          <p:cNvPr id="14" name="Text 12"/>
          <p:cNvSpPr/>
          <p:nvPr/>
        </p:nvSpPr>
        <p:spPr>
          <a:xfrm>
            <a:off x="2706624" y="2871216"/>
            <a:ext cx="1225296" cy="347472"/>
          </a:xfrm>
          <a:prstGeom prst="rect">
            <a:avLst/>
          </a:prstGeom>
          <a:noFill/>
          <a:ln/>
        </p:spPr>
        <p:txBody>
          <a:bodyPr wrap="square" lIns="0" tIns="0" rIns="0" bIns="0" rtlCol="0" anchor="ctr"/>
          <a:lstStyle/>
          <a:p>
            <a:pPr algn="ctr" indent="0" marL="0">
              <a:buNone/>
            </a:pPr>
            <a:r>
              <a:rPr lang="en-US" sz="860" dirty="0">
                <a:solidFill>
                  <a:srgbClr val="9FB0C3"/>
                </a:solidFill>
              </a:rPr>
              <a:t>Aynı host / DC / rack mi?</a:t>
            </a:r>
            <a:endParaRPr lang="en-US" sz="860" dirty="0"/>
          </a:p>
        </p:txBody>
      </p:sp>
      <p:sp>
        <p:nvSpPr>
          <p:cNvPr id="15" name="Shape 13"/>
          <p:cNvSpPr/>
          <p:nvPr/>
        </p:nvSpPr>
        <p:spPr>
          <a:xfrm>
            <a:off x="4498848" y="1828800"/>
            <a:ext cx="1481328" cy="1572768"/>
          </a:xfrm>
          <a:prstGeom prst="roundRect">
            <a:avLst>
              <a:gd name="adj" fmla="val 6173"/>
            </a:avLst>
          </a:prstGeom>
          <a:solidFill>
            <a:srgbClr val="0D1B2D"/>
          </a:solidFill>
          <a:ln w="12700">
            <a:solidFill>
              <a:srgbClr val="22354D"/>
            </a:solidFill>
            <a:prstDash val="solid"/>
          </a:ln>
        </p:spPr>
      </p:sp>
      <p:sp>
        <p:nvSpPr>
          <p:cNvPr id="16" name="Shape 14"/>
          <p:cNvSpPr/>
          <p:nvPr/>
        </p:nvSpPr>
        <p:spPr>
          <a:xfrm>
            <a:off x="5001768" y="1993392"/>
            <a:ext cx="457200" cy="457200"/>
          </a:xfrm>
          <a:prstGeom prst="ellipse">
            <a:avLst/>
          </a:prstGeom>
          <a:solidFill>
            <a:srgbClr val="44D18C">
              <a:alpha val="18000"/>
            </a:srgbClr>
          </a:solidFill>
          <a:ln w="17780">
            <a:solidFill>
              <a:srgbClr val="44D18C"/>
            </a:solidFill>
            <a:prstDash val="solid"/>
          </a:ln>
        </p:spPr>
      </p:sp>
      <p:sp>
        <p:nvSpPr>
          <p:cNvPr id="17" name="Text 15"/>
          <p:cNvSpPr/>
          <p:nvPr/>
        </p:nvSpPr>
        <p:spPr>
          <a:xfrm>
            <a:off x="5001768" y="2112264"/>
            <a:ext cx="457200" cy="118872"/>
          </a:xfrm>
          <a:prstGeom prst="rect">
            <a:avLst/>
          </a:prstGeom>
          <a:noFill/>
          <a:ln/>
        </p:spPr>
        <p:txBody>
          <a:bodyPr wrap="square" lIns="0" tIns="0" rIns="0" bIns="0" rtlCol="0" anchor="ctr"/>
          <a:lstStyle/>
          <a:p>
            <a:pPr algn="ctr" indent="0" marL="0">
              <a:buNone/>
            </a:pPr>
            <a:r>
              <a:rPr lang="en-US" sz="850" b="1" dirty="0">
                <a:solidFill>
                  <a:srgbClr val="44D18C"/>
                </a:solidFill>
              </a:rPr>
              <a:t>03</a:t>
            </a:r>
            <a:endParaRPr lang="en-US" sz="850" dirty="0"/>
          </a:p>
        </p:txBody>
      </p:sp>
      <p:sp>
        <p:nvSpPr>
          <p:cNvPr id="18" name="Text 16"/>
          <p:cNvSpPr/>
          <p:nvPr/>
        </p:nvSpPr>
        <p:spPr>
          <a:xfrm>
            <a:off x="4608576" y="2606040"/>
            <a:ext cx="1261872" cy="182880"/>
          </a:xfrm>
          <a:prstGeom prst="rect">
            <a:avLst/>
          </a:prstGeom>
          <a:noFill/>
          <a:ln/>
        </p:spPr>
        <p:txBody>
          <a:bodyPr wrap="square" lIns="0" tIns="0" rIns="0" bIns="0" rtlCol="0" anchor="ctr"/>
          <a:lstStyle/>
          <a:p>
            <a:pPr algn="ctr" indent="0" marL="0">
              <a:buNone/>
            </a:pPr>
            <a:r>
              <a:rPr lang="en-US" sz="970" b="1" dirty="0">
                <a:solidFill>
                  <a:srgbClr val="F6F9FC"/>
                </a:solidFill>
              </a:rPr>
              <a:t>DEPENDENCY</a:t>
            </a:r>
            <a:endParaRPr lang="en-US" sz="970" dirty="0"/>
          </a:p>
        </p:txBody>
      </p:sp>
      <p:sp>
        <p:nvSpPr>
          <p:cNvPr id="19" name="Text 17"/>
          <p:cNvSpPr/>
          <p:nvPr/>
        </p:nvSpPr>
        <p:spPr>
          <a:xfrm>
            <a:off x="4626864" y="2871216"/>
            <a:ext cx="1225296" cy="347472"/>
          </a:xfrm>
          <a:prstGeom prst="rect">
            <a:avLst/>
          </a:prstGeom>
          <a:noFill/>
          <a:ln/>
        </p:spPr>
        <p:txBody>
          <a:bodyPr wrap="square" lIns="0" tIns="0" rIns="0" bIns="0" rtlCol="0" anchor="ctr"/>
          <a:lstStyle/>
          <a:p>
            <a:pPr algn="ctr" indent="0" marL="0">
              <a:buNone/>
            </a:pPr>
            <a:r>
              <a:rPr lang="en-US" sz="860" dirty="0">
                <a:solidFill>
                  <a:srgbClr val="9FB0C3"/>
                </a:solidFill>
              </a:rPr>
              <a:t>Servisler gerçekten bağlı mı?</a:t>
            </a:r>
            <a:endParaRPr lang="en-US" sz="860" dirty="0"/>
          </a:p>
        </p:txBody>
      </p:sp>
      <p:sp>
        <p:nvSpPr>
          <p:cNvPr id="20" name="Shape 18"/>
          <p:cNvSpPr/>
          <p:nvPr/>
        </p:nvSpPr>
        <p:spPr>
          <a:xfrm>
            <a:off x="6419088" y="1828800"/>
            <a:ext cx="1481328" cy="1572768"/>
          </a:xfrm>
          <a:prstGeom prst="roundRect">
            <a:avLst>
              <a:gd name="adj" fmla="val 6173"/>
            </a:avLst>
          </a:prstGeom>
          <a:solidFill>
            <a:srgbClr val="0D1B2D"/>
          </a:solidFill>
          <a:ln w="12700">
            <a:solidFill>
              <a:srgbClr val="22354D"/>
            </a:solidFill>
            <a:prstDash val="solid"/>
          </a:ln>
        </p:spPr>
      </p:sp>
      <p:sp>
        <p:nvSpPr>
          <p:cNvPr id="21" name="Shape 19"/>
          <p:cNvSpPr/>
          <p:nvPr/>
        </p:nvSpPr>
        <p:spPr>
          <a:xfrm>
            <a:off x="6922008" y="1993392"/>
            <a:ext cx="457200" cy="457200"/>
          </a:xfrm>
          <a:prstGeom prst="ellipse">
            <a:avLst/>
          </a:prstGeom>
          <a:solidFill>
            <a:srgbClr val="FFB84D">
              <a:alpha val="18000"/>
            </a:srgbClr>
          </a:solidFill>
          <a:ln w="17780">
            <a:solidFill>
              <a:srgbClr val="FFB84D"/>
            </a:solidFill>
            <a:prstDash val="solid"/>
          </a:ln>
        </p:spPr>
      </p:sp>
      <p:sp>
        <p:nvSpPr>
          <p:cNvPr id="22" name="Text 20"/>
          <p:cNvSpPr/>
          <p:nvPr/>
        </p:nvSpPr>
        <p:spPr>
          <a:xfrm>
            <a:off x="6922008" y="2112264"/>
            <a:ext cx="457200" cy="118872"/>
          </a:xfrm>
          <a:prstGeom prst="rect">
            <a:avLst/>
          </a:prstGeom>
          <a:noFill/>
          <a:ln/>
        </p:spPr>
        <p:txBody>
          <a:bodyPr wrap="square" lIns="0" tIns="0" rIns="0" bIns="0" rtlCol="0" anchor="ctr"/>
          <a:lstStyle/>
          <a:p>
            <a:pPr algn="ctr" indent="0" marL="0">
              <a:buNone/>
            </a:pPr>
            <a:r>
              <a:rPr lang="en-US" sz="850" b="1" dirty="0">
                <a:solidFill>
                  <a:srgbClr val="FFB84D"/>
                </a:solidFill>
              </a:rPr>
              <a:t>04</a:t>
            </a:r>
            <a:endParaRPr lang="en-US" sz="850" dirty="0"/>
          </a:p>
        </p:txBody>
      </p:sp>
      <p:sp>
        <p:nvSpPr>
          <p:cNvPr id="23" name="Text 21"/>
          <p:cNvSpPr/>
          <p:nvPr/>
        </p:nvSpPr>
        <p:spPr>
          <a:xfrm>
            <a:off x="6528816" y="2606040"/>
            <a:ext cx="1261872" cy="182880"/>
          </a:xfrm>
          <a:prstGeom prst="rect">
            <a:avLst/>
          </a:prstGeom>
          <a:noFill/>
          <a:ln/>
        </p:spPr>
        <p:txBody>
          <a:bodyPr wrap="square" lIns="0" tIns="0" rIns="0" bIns="0" rtlCol="0" anchor="ctr"/>
          <a:lstStyle/>
          <a:p>
            <a:pPr algn="ctr" indent="0" marL="0">
              <a:buNone/>
            </a:pPr>
            <a:r>
              <a:rPr lang="en-US" sz="970" b="1" dirty="0">
                <a:solidFill>
                  <a:srgbClr val="F6F9FC"/>
                </a:solidFill>
              </a:rPr>
              <a:t>MESAJ HEDEFİ</a:t>
            </a:r>
            <a:endParaRPr lang="en-US" sz="970" dirty="0"/>
          </a:p>
        </p:txBody>
      </p:sp>
      <p:sp>
        <p:nvSpPr>
          <p:cNvPr id="24" name="Text 22"/>
          <p:cNvSpPr/>
          <p:nvPr/>
        </p:nvSpPr>
        <p:spPr>
          <a:xfrm>
            <a:off x="6547104" y="2871216"/>
            <a:ext cx="1225296" cy="347472"/>
          </a:xfrm>
          <a:prstGeom prst="rect">
            <a:avLst/>
          </a:prstGeom>
          <a:noFill/>
          <a:ln/>
        </p:spPr>
        <p:txBody>
          <a:bodyPr wrap="square" lIns="0" tIns="0" rIns="0" bIns="0" rtlCol="0" anchor="ctr"/>
          <a:lstStyle/>
          <a:p>
            <a:pPr algn="ctr" indent="0" marL="0">
              <a:buNone/>
            </a:pPr>
            <a:r>
              <a:rPr lang="en-US" sz="860" dirty="0">
                <a:solidFill>
                  <a:srgbClr val="9FB0C3"/>
                </a:solidFill>
              </a:rPr>
              <a:t>Alarm kimi çağırırken oluştu?</a:t>
            </a:r>
            <a:endParaRPr lang="en-US" sz="860" dirty="0"/>
          </a:p>
        </p:txBody>
      </p:sp>
      <p:sp>
        <p:nvSpPr>
          <p:cNvPr id="25" name="Shape 23"/>
          <p:cNvSpPr/>
          <p:nvPr/>
        </p:nvSpPr>
        <p:spPr>
          <a:xfrm>
            <a:off x="8339328" y="1828800"/>
            <a:ext cx="1481328" cy="1572768"/>
          </a:xfrm>
          <a:prstGeom prst="roundRect">
            <a:avLst>
              <a:gd name="adj" fmla="val 6173"/>
            </a:avLst>
          </a:prstGeom>
          <a:solidFill>
            <a:srgbClr val="0D1B2D"/>
          </a:solidFill>
          <a:ln w="12700">
            <a:solidFill>
              <a:srgbClr val="22354D"/>
            </a:solidFill>
            <a:prstDash val="solid"/>
          </a:ln>
        </p:spPr>
      </p:sp>
      <p:sp>
        <p:nvSpPr>
          <p:cNvPr id="26" name="Shape 24"/>
          <p:cNvSpPr/>
          <p:nvPr/>
        </p:nvSpPr>
        <p:spPr>
          <a:xfrm>
            <a:off x="8842248" y="1993392"/>
            <a:ext cx="457200" cy="457200"/>
          </a:xfrm>
          <a:prstGeom prst="ellipse">
            <a:avLst/>
          </a:prstGeom>
          <a:solidFill>
            <a:srgbClr val="9B8CFF">
              <a:alpha val="18000"/>
            </a:srgbClr>
          </a:solidFill>
          <a:ln w="17780">
            <a:solidFill>
              <a:srgbClr val="9B8CFF"/>
            </a:solidFill>
            <a:prstDash val="solid"/>
          </a:ln>
        </p:spPr>
      </p:sp>
      <p:sp>
        <p:nvSpPr>
          <p:cNvPr id="27" name="Text 25"/>
          <p:cNvSpPr/>
          <p:nvPr/>
        </p:nvSpPr>
        <p:spPr>
          <a:xfrm>
            <a:off x="8842248" y="2112264"/>
            <a:ext cx="457200" cy="118872"/>
          </a:xfrm>
          <a:prstGeom prst="rect">
            <a:avLst/>
          </a:prstGeom>
          <a:noFill/>
          <a:ln/>
        </p:spPr>
        <p:txBody>
          <a:bodyPr wrap="square" lIns="0" tIns="0" rIns="0" bIns="0" rtlCol="0" anchor="ctr"/>
          <a:lstStyle/>
          <a:p>
            <a:pPr algn="ctr" indent="0" marL="0">
              <a:buNone/>
            </a:pPr>
            <a:r>
              <a:rPr lang="en-US" sz="850" b="1" dirty="0">
                <a:solidFill>
                  <a:srgbClr val="9B8CFF"/>
                </a:solidFill>
              </a:rPr>
              <a:t>05</a:t>
            </a:r>
            <a:endParaRPr lang="en-US" sz="850" dirty="0"/>
          </a:p>
        </p:txBody>
      </p:sp>
      <p:sp>
        <p:nvSpPr>
          <p:cNvPr id="28" name="Text 26"/>
          <p:cNvSpPr/>
          <p:nvPr/>
        </p:nvSpPr>
        <p:spPr>
          <a:xfrm>
            <a:off x="8449056" y="2606040"/>
            <a:ext cx="1261872" cy="182880"/>
          </a:xfrm>
          <a:prstGeom prst="rect">
            <a:avLst/>
          </a:prstGeom>
          <a:noFill/>
          <a:ln/>
        </p:spPr>
        <p:txBody>
          <a:bodyPr wrap="square" lIns="0" tIns="0" rIns="0" bIns="0" rtlCol="0" anchor="ctr"/>
          <a:lstStyle/>
          <a:p>
            <a:pPr algn="ctr" indent="0" marL="0">
              <a:buNone/>
            </a:pPr>
            <a:r>
              <a:rPr lang="en-US" sz="970" b="1" dirty="0">
                <a:solidFill>
                  <a:srgbClr val="F6F9FC"/>
                </a:solidFill>
              </a:rPr>
              <a:t>PATTERN</a:t>
            </a:r>
            <a:endParaRPr lang="en-US" sz="970" dirty="0"/>
          </a:p>
        </p:txBody>
      </p:sp>
      <p:sp>
        <p:nvSpPr>
          <p:cNvPr id="29" name="Text 27"/>
          <p:cNvSpPr/>
          <p:nvPr/>
        </p:nvSpPr>
        <p:spPr>
          <a:xfrm>
            <a:off x="8467344" y="2871216"/>
            <a:ext cx="1225296" cy="347472"/>
          </a:xfrm>
          <a:prstGeom prst="rect">
            <a:avLst/>
          </a:prstGeom>
          <a:noFill/>
          <a:ln/>
        </p:spPr>
        <p:txBody>
          <a:bodyPr wrap="square" lIns="0" tIns="0" rIns="0" bIns="0" rtlCol="0" anchor="ctr"/>
          <a:lstStyle/>
          <a:p>
            <a:pPr algn="ctr" indent="0" marL="0">
              <a:buNone/>
            </a:pPr>
            <a:r>
              <a:rPr lang="en-US" sz="860" dirty="0">
                <a:solidFill>
                  <a:srgbClr val="9FB0C3"/>
                </a:solidFill>
              </a:rPr>
              <a:t>Tekrar / trend / patlama var mı?</a:t>
            </a:r>
            <a:endParaRPr lang="en-US" sz="860" dirty="0"/>
          </a:p>
        </p:txBody>
      </p:sp>
      <p:sp>
        <p:nvSpPr>
          <p:cNvPr id="30" name="Shape 28"/>
          <p:cNvSpPr/>
          <p:nvPr/>
        </p:nvSpPr>
        <p:spPr>
          <a:xfrm>
            <a:off x="10259568" y="1828800"/>
            <a:ext cx="1481328" cy="1572768"/>
          </a:xfrm>
          <a:prstGeom prst="roundRect">
            <a:avLst>
              <a:gd name="adj" fmla="val 6173"/>
            </a:avLst>
          </a:prstGeom>
          <a:solidFill>
            <a:srgbClr val="0D1B2D"/>
          </a:solidFill>
          <a:ln w="12700">
            <a:solidFill>
              <a:srgbClr val="22354D"/>
            </a:solidFill>
            <a:prstDash val="solid"/>
          </a:ln>
        </p:spPr>
      </p:sp>
      <p:sp>
        <p:nvSpPr>
          <p:cNvPr id="31" name="Shape 29"/>
          <p:cNvSpPr/>
          <p:nvPr/>
        </p:nvSpPr>
        <p:spPr>
          <a:xfrm>
            <a:off x="10762488" y="1993392"/>
            <a:ext cx="457200" cy="457200"/>
          </a:xfrm>
          <a:prstGeom prst="ellipse">
            <a:avLst/>
          </a:prstGeom>
          <a:solidFill>
            <a:srgbClr val="FF6B6B">
              <a:alpha val="18000"/>
            </a:srgbClr>
          </a:solidFill>
          <a:ln w="17780">
            <a:solidFill>
              <a:srgbClr val="FF6B6B"/>
            </a:solidFill>
            <a:prstDash val="solid"/>
          </a:ln>
        </p:spPr>
      </p:sp>
      <p:sp>
        <p:nvSpPr>
          <p:cNvPr id="32" name="Text 30"/>
          <p:cNvSpPr/>
          <p:nvPr/>
        </p:nvSpPr>
        <p:spPr>
          <a:xfrm>
            <a:off x="10762488" y="2112264"/>
            <a:ext cx="457200" cy="118872"/>
          </a:xfrm>
          <a:prstGeom prst="rect">
            <a:avLst/>
          </a:prstGeom>
          <a:noFill/>
          <a:ln/>
        </p:spPr>
        <p:txBody>
          <a:bodyPr wrap="square" lIns="0" tIns="0" rIns="0" bIns="0" rtlCol="0" anchor="ctr"/>
          <a:lstStyle/>
          <a:p>
            <a:pPr algn="ctr" indent="0" marL="0">
              <a:buNone/>
            </a:pPr>
            <a:r>
              <a:rPr lang="en-US" sz="850" b="1" dirty="0">
                <a:solidFill>
                  <a:srgbClr val="FF6B6B"/>
                </a:solidFill>
              </a:rPr>
              <a:t>06</a:t>
            </a:r>
            <a:endParaRPr lang="en-US" sz="850" dirty="0"/>
          </a:p>
        </p:txBody>
      </p:sp>
      <p:sp>
        <p:nvSpPr>
          <p:cNvPr id="33" name="Text 31"/>
          <p:cNvSpPr/>
          <p:nvPr/>
        </p:nvSpPr>
        <p:spPr>
          <a:xfrm>
            <a:off x="10369296" y="2606040"/>
            <a:ext cx="1261872" cy="182880"/>
          </a:xfrm>
          <a:prstGeom prst="rect">
            <a:avLst/>
          </a:prstGeom>
          <a:noFill/>
          <a:ln/>
        </p:spPr>
        <p:txBody>
          <a:bodyPr wrap="square" lIns="0" tIns="0" rIns="0" bIns="0" rtlCol="0" anchor="ctr"/>
          <a:lstStyle/>
          <a:p>
            <a:pPr algn="ctr" indent="0" marL="0">
              <a:buNone/>
            </a:pPr>
            <a:r>
              <a:rPr lang="en-US" sz="970" b="1" dirty="0">
                <a:solidFill>
                  <a:srgbClr val="F6F9FC"/>
                </a:solidFill>
              </a:rPr>
              <a:t>CAUSALITY</a:t>
            </a:r>
            <a:endParaRPr lang="en-US" sz="970" dirty="0"/>
          </a:p>
        </p:txBody>
      </p:sp>
      <p:sp>
        <p:nvSpPr>
          <p:cNvPr id="34" name="Text 32"/>
          <p:cNvSpPr/>
          <p:nvPr/>
        </p:nvSpPr>
        <p:spPr>
          <a:xfrm>
            <a:off x="10387584" y="2871216"/>
            <a:ext cx="1225296" cy="347472"/>
          </a:xfrm>
          <a:prstGeom prst="rect">
            <a:avLst/>
          </a:prstGeom>
          <a:noFill/>
          <a:ln/>
        </p:spPr>
        <p:txBody>
          <a:bodyPr wrap="square" lIns="0" tIns="0" rIns="0" bIns="0" rtlCol="0" anchor="ctr"/>
          <a:lstStyle/>
          <a:p>
            <a:pPr algn="ctr" indent="0" marL="0">
              <a:buNone/>
            </a:pPr>
            <a:r>
              <a:rPr lang="en-US" sz="860" dirty="0">
                <a:solidFill>
                  <a:srgbClr val="9FB0C3"/>
                </a:solidFill>
              </a:rPr>
              <a:t>Önce ne oldu, sonra ne?</a:t>
            </a:r>
            <a:endParaRPr lang="en-US" sz="860" dirty="0"/>
          </a:p>
        </p:txBody>
      </p:sp>
      <p:sp>
        <p:nvSpPr>
          <p:cNvPr id="35" name="Shape 33"/>
          <p:cNvSpPr/>
          <p:nvPr/>
        </p:nvSpPr>
        <p:spPr>
          <a:xfrm>
            <a:off x="749808" y="3886200"/>
            <a:ext cx="10972800" cy="1417320"/>
          </a:xfrm>
          <a:prstGeom prst="roundRect">
            <a:avLst>
              <a:gd name="adj" fmla="val 6452"/>
            </a:avLst>
          </a:prstGeom>
          <a:solidFill>
            <a:srgbClr val="0A1625"/>
          </a:solidFill>
          <a:ln w="12700">
            <a:solidFill>
              <a:srgbClr val="1D3652"/>
            </a:solidFill>
            <a:prstDash val="solid"/>
          </a:ln>
        </p:spPr>
      </p:sp>
      <p:sp>
        <p:nvSpPr>
          <p:cNvPr id="36" name="Text 34"/>
          <p:cNvSpPr/>
          <p:nvPr/>
        </p:nvSpPr>
        <p:spPr>
          <a:xfrm>
            <a:off x="960120" y="4096512"/>
            <a:ext cx="1965960" cy="182880"/>
          </a:xfrm>
          <a:prstGeom prst="rect">
            <a:avLst/>
          </a:prstGeom>
          <a:noFill/>
          <a:ln/>
        </p:spPr>
        <p:txBody>
          <a:bodyPr wrap="square" lIns="0" tIns="0" rIns="0" bIns="0" rtlCol="0" anchor="ctr"/>
          <a:lstStyle/>
          <a:p>
            <a:pPr indent="0" marL="0">
              <a:buNone/>
            </a:pPr>
            <a:r>
              <a:rPr lang="en-US" sz="1000" b="1" spc="120" kern="0" dirty="0">
                <a:solidFill>
                  <a:srgbClr val="20D6C7"/>
                </a:solidFill>
              </a:rPr>
              <a:t>ÖRNEK KANIT PUANI</a:t>
            </a:r>
            <a:endParaRPr lang="en-US" sz="1000" dirty="0"/>
          </a:p>
        </p:txBody>
      </p:sp>
      <p:sp>
        <p:nvSpPr>
          <p:cNvPr id="37" name="Shape 35"/>
          <p:cNvSpPr/>
          <p:nvPr/>
        </p:nvSpPr>
        <p:spPr>
          <a:xfrm>
            <a:off x="960120" y="4453128"/>
            <a:ext cx="1600200" cy="310896"/>
          </a:xfrm>
          <a:prstGeom prst="roundRect">
            <a:avLst>
              <a:gd name="adj" fmla="val 47059"/>
            </a:avLst>
          </a:prstGeom>
          <a:solidFill>
            <a:srgbClr val="20D6C7">
              <a:alpha val="18000"/>
            </a:srgbClr>
          </a:solidFill>
          <a:ln w="12700">
            <a:solidFill>
              <a:srgbClr val="20D6C7">
                <a:alpha val="40000"/>
              </a:srgbClr>
            </a:solidFill>
            <a:prstDash val="solid"/>
          </a:ln>
        </p:spPr>
      </p:sp>
      <p:sp>
        <p:nvSpPr>
          <p:cNvPr id="38" name="Text 36"/>
          <p:cNvSpPr/>
          <p:nvPr/>
        </p:nvSpPr>
        <p:spPr>
          <a:xfrm>
            <a:off x="1033272" y="4517136"/>
            <a:ext cx="1453896" cy="137160"/>
          </a:xfrm>
          <a:prstGeom prst="rect">
            <a:avLst/>
          </a:prstGeom>
          <a:noFill/>
          <a:ln/>
        </p:spPr>
        <p:txBody>
          <a:bodyPr wrap="square" lIns="0" tIns="0" rIns="0" bIns="0" rtlCol="0" anchor="ctr"/>
          <a:lstStyle/>
          <a:p>
            <a:pPr algn="ctr" indent="0" marL="0">
              <a:buNone/>
            </a:pPr>
            <a:r>
              <a:rPr lang="en-US" sz="900" b="1" spc="50" kern="0" dirty="0">
                <a:solidFill>
                  <a:srgbClr val="20D6C7"/>
                </a:solidFill>
              </a:rPr>
              <a:t>Mesaj hedefi +6</a:t>
            </a:r>
            <a:endParaRPr lang="en-US" sz="900" dirty="0"/>
          </a:p>
        </p:txBody>
      </p:sp>
      <p:sp>
        <p:nvSpPr>
          <p:cNvPr id="39" name="Shape 37"/>
          <p:cNvSpPr/>
          <p:nvPr/>
        </p:nvSpPr>
        <p:spPr>
          <a:xfrm>
            <a:off x="2706624" y="4453128"/>
            <a:ext cx="1325880" cy="310896"/>
          </a:xfrm>
          <a:prstGeom prst="roundRect">
            <a:avLst>
              <a:gd name="adj" fmla="val 47059"/>
            </a:avLst>
          </a:prstGeom>
          <a:solidFill>
            <a:srgbClr val="44D18C">
              <a:alpha val="18000"/>
            </a:srgbClr>
          </a:solidFill>
          <a:ln w="12700">
            <a:solidFill>
              <a:srgbClr val="44D18C">
                <a:alpha val="40000"/>
              </a:srgbClr>
            </a:solidFill>
            <a:prstDash val="solid"/>
          </a:ln>
        </p:spPr>
      </p:sp>
      <p:sp>
        <p:nvSpPr>
          <p:cNvPr id="40" name="Text 38"/>
          <p:cNvSpPr/>
          <p:nvPr/>
        </p:nvSpPr>
        <p:spPr>
          <a:xfrm>
            <a:off x="2779776" y="4517136"/>
            <a:ext cx="1179576" cy="137160"/>
          </a:xfrm>
          <a:prstGeom prst="rect">
            <a:avLst/>
          </a:prstGeom>
          <a:noFill/>
          <a:ln/>
        </p:spPr>
        <p:txBody>
          <a:bodyPr wrap="square" lIns="0" tIns="0" rIns="0" bIns="0" rtlCol="0" anchor="ctr"/>
          <a:lstStyle/>
          <a:p>
            <a:pPr algn="ctr" indent="0" marL="0">
              <a:buNone/>
            </a:pPr>
            <a:r>
              <a:rPr lang="en-US" sz="900" b="1" spc="50" kern="0" dirty="0">
                <a:solidFill>
                  <a:srgbClr val="44D18C"/>
                </a:solidFill>
              </a:rPr>
              <a:t>Aynı rack +5</a:t>
            </a:r>
            <a:endParaRPr lang="en-US" sz="900" dirty="0"/>
          </a:p>
        </p:txBody>
      </p:sp>
      <p:sp>
        <p:nvSpPr>
          <p:cNvPr id="41" name="Shape 39"/>
          <p:cNvSpPr/>
          <p:nvPr/>
        </p:nvSpPr>
        <p:spPr>
          <a:xfrm>
            <a:off x="4178808" y="4453128"/>
            <a:ext cx="1417320" cy="310896"/>
          </a:xfrm>
          <a:prstGeom prst="roundRect">
            <a:avLst>
              <a:gd name="adj" fmla="val 47059"/>
            </a:avLst>
          </a:prstGeom>
          <a:solidFill>
            <a:srgbClr val="4A9CFF">
              <a:alpha val="18000"/>
            </a:srgbClr>
          </a:solidFill>
          <a:ln w="12700">
            <a:solidFill>
              <a:srgbClr val="4A9CFF">
                <a:alpha val="40000"/>
              </a:srgbClr>
            </a:solidFill>
            <a:prstDash val="solid"/>
          </a:ln>
        </p:spPr>
      </p:sp>
      <p:sp>
        <p:nvSpPr>
          <p:cNvPr id="42" name="Text 40"/>
          <p:cNvSpPr/>
          <p:nvPr/>
        </p:nvSpPr>
        <p:spPr>
          <a:xfrm>
            <a:off x="4251960" y="4517136"/>
            <a:ext cx="1271016" cy="137160"/>
          </a:xfrm>
          <a:prstGeom prst="rect">
            <a:avLst/>
          </a:prstGeom>
          <a:noFill/>
          <a:ln/>
        </p:spPr>
        <p:txBody>
          <a:bodyPr wrap="square" lIns="0" tIns="0" rIns="0" bIns="0" rtlCol="0" anchor="ctr"/>
          <a:lstStyle/>
          <a:p>
            <a:pPr algn="ctr" indent="0" marL="0">
              <a:buNone/>
            </a:pPr>
            <a:r>
              <a:rPr lang="en-US" sz="900" b="1" spc="50" kern="0" dirty="0">
                <a:solidFill>
                  <a:srgbClr val="4A9CFF"/>
                </a:solidFill>
              </a:rPr>
              <a:t>Kök servis +4</a:t>
            </a:r>
            <a:endParaRPr lang="en-US" sz="900" dirty="0"/>
          </a:p>
        </p:txBody>
      </p:sp>
      <p:sp>
        <p:nvSpPr>
          <p:cNvPr id="43" name="Shape 41"/>
          <p:cNvSpPr/>
          <p:nvPr/>
        </p:nvSpPr>
        <p:spPr>
          <a:xfrm>
            <a:off x="5742432" y="4453128"/>
            <a:ext cx="1874520" cy="310896"/>
          </a:xfrm>
          <a:prstGeom prst="roundRect">
            <a:avLst>
              <a:gd name="adj" fmla="val 47059"/>
            </a:avLst>
          </a:prstGeom>
          <a:solidFill>
            <a:srgbClr val="9B8CFF">
              <a:alpha val="18000"/>
            </a:srgbClr>
          </a:solidFill>
          <a:ln w="12700">
            <a:solidFill>
              <a:srgbClr val="9B8CFF">
                <a:alpha val="40000"/>
              </a:srgbClr>
            </a:solidFill>
            <a:prstDash val="solid"/>
          </a:ln>
        </p:spPr>
      </p:sp>
      <p:sp>
        <p:nvSpPr>
          <p:cNvPr id="44" name="Text 42"/>
          <p:cNvSpPr/>
          <p:nvPr/>
        </p:nvSpPr>
        <p:spPr>
          <a:xfrm>
            <a:off x="5815584" y="4517136"/>
            <a:ext cx="1728216" cy="137160"/>
          </a:xfrm>
          <a:prstGeom prst="rect">
            <a:avLst/>
          </a:prstGeom>
          <a:noFill/>
          <a:ln/>
        </p:spPr>
        <p:txBody>
          <a:bodyPr wrap="square" lIns="0" tIns="0" rIns="0" bIns="0" rtlCol="0" anchor="ctr"/>
          <a:lstStyle/>
          <a:p>
            <a:pPr algn="ctr" indent="0" marL="0">
              <a:buNone/>
            </a:pPr>
            <a:r>
              <a:rPr lang="en-US" sz="900" b="1" spc="50" kern="0" dirty="0">
                <a:solidFill>
                  <a:srgbClr val="9B8CFF"/>
                </a:solidFill>
              </a:rPr>
              <a:t>Dependency yolu +2…4</a:t>
            </a:r>
            <a:endParaRPr lang="en-US" sz="900" dirty="0"/>
          </a:p>
        </p:txBody>
      </p:sp>
      <p:sp>
        <p:nvSpPr>
          <p:cNvPr id="45" name="Shape 43"/>
          <p:cNvSpPr/>
          <p:nvPr/>
        </p:nvSpPr>
        <p:spPr>
          <a:xfrm>
            <a:off x="7763256" y="4453128"/>
            <a:ext cx="1481328" cy="310896"/>
          </a:xfrm>
          <a:prstGeom prst="roundRect">
            <a:avLst>
              <a:gd name="adj" fmla="val 47059"/>
            </a:avLst>
          </a:prstGeom>
          <a:solidFill>
            <a:srgbClr val="FFB84D">
              <a:alpha val="18000"/>
            </a:srgbClr>
          </a:solidFill>
          <a:ln w="12700">
            <a:solidFill>
              <a:srgbClr val="FFB84D">
                <a:alpha val="40000"/>
              </a:srgbClr>
            </a:solidFill>
            <a:prstDash val="solid"/>
          </a:ln>
        </p:spPr>
      </p:sp>
      <p:sp>
        <p:nvSpPr>
          <p:cNvPr id="46" name="Text 44"/>
          <p:cNvSpPr/>
          <p:nvPr/>
        </p:nvSpPr>
        <p:spPr>
          <a:xfrm>
            <a:off x="7836408" y="4517136"/>
            <a:ext cx="1335024" cy="137160"/>
          </a:xfrm>
          <a:prstGeom prst="rect">
            <a:avLst/>
          </a:prstGeom>
          <a:noFill/>
          <a:ln/>
        </p:spPr>
        <p:txBody>
          <a:bodyPr wrap="square" lIns="0" tIns="0" rIns="0" bIns="0" rtlCol="0" anchor="ctr"/>
          <a:lstStyle/>
          <a:p>
            <a:pPr algn="ctr" indent="0" marL="0">
              <a:buNone/>
            </a:pPr>
            <a:r>
              <a:rPr lang="en-US" sz="900" b="1" spc="50" kern="0" dirty="0">
                <a:solidFill>
                  <a:srgbClr val="FFB84D"/>
                </a:solidFill>
              </a:rPr>
              <a:t>Belirti uyumu +2</a:t>
            </a:r>
            <a:endParaRPr lang="en-US" sz="900" dirty="0"/>
          </a:p>
        </p:txBody>
      </p:sp>
      <p:sp>
        <p:nvSpPr>
          <p:cNvPr id="47" name="Shape 45"/>
          <p:cNvSpPr/>
          <p:nvPr/>
        </p:nvSpPr>
        <p:spPr>
          <a:xfrm>
            <a:off x="9390888" y="4453128"/>
            <a:ext cx="1600200" cy="310896"/>
          </a:xfrm>
          <a:prstGeom prst="roundRect">
            <a:avLst>
              <a:gd name="adj" fmla="val 47059"/>
            </a:avLst>
          </a:prstGeom>
          <a:solidFill>
            <a:srgbClr val="FF6B6B">
              <a:alpha val="18000"/>
            </a:srgbClr>
          </a:solidFill>
          <a:ln w="12700">
            <a:solidFill>
              <a:srgbClr val="FF6B6B">
                <a:alpha val="40000"/>
              </a:srgbClr>
            </a:solidFill>
            <a:prstDash val="solid"/>
          </a:ln>
        </p:spPr>
      </p:sp>
      <p:sp>
        <p:nvSpPr>
          <p:cNvPr id="48" name="Text 46"/>
          <p:cNvSpPr/>
          <p:nvPr/>
        </p:nvSpPr>
        <p:spPr>
          <a:xfrm>
            <a:off x="9464040" y="4517136"/>
            <a:ext cx="1453896" cy="137160"/>
          </a:xfrm>
          <a:prstGeom prst="rect">
            <a:avLst/>
          </a:prstGeom>
          <a:noFill/>
          <a:ln/>
        </p:spPr>
        <p:txBody>
          <a:bodyPr wrap="square" lIns="0" tIns="0" rIns="0" bIns="0" rtlCol="0" anchor="ctr"/>
          <a:lstStyle/>
          <a:p>
            <a:pPr algn="ctr" indent="0" marL="0">
              <a:buNone/>
            </a:pPr>
            <a:r>
              <a:rPr lang="en-US" sz="900" b="1" spc="50" kern="0" dirty="0">
                <a:solidFill>
                  <a:srgbClr val="FF6B6B"/>
                </a:solidFill>
              </a:rPr>
              <a:t>İlgisiz hedef −3</a:t>
            </a:r>
            <a:endParaRPr lang="en-US" sz="900" dirty="0"/>
          </a:p>
        </p:txBody>
      </p:sp>
      <p:sp>
        <p:nvSpPr>
          <p:cNvPr id="49" name="Shape 47"/>
          <p:cNvSpPr/>
          <p:nvPr/>
        </p:nvSpPr>
        <p:spPr>
          <a:xfrm>
            <a:off x="914400" y="5532120"/>
            <a:ext cx="3273552" cy="685800"/>
          </a:xfrm>
          <a:prstGeom prst="roundRect">
            <a:avLst>
              <a:gd name="adj" fmla="val 13333"/>
            </a:avLst>
          </a:prstGeom>
          <a:solidFill>
            <a:srgbClr val="0D1B2D"/>
          </a:solidFill>
          <a:ln w="12700">
            <a:solidFill>
              <a:srgbClr val="22354D"/>
            </a:solidFill>
            <a:prstDash val="solid"/>
          </a:ln>
        </p:spPr>
      </p:sp>
      <p:sp>
        <p:nvSpPr>
          <p:cNvPr id="50" name="Text 48"/>
          <p:cNvSpPr/>
          <p:nvPr/>
        </p:nvSpPr>
        <p:spPr>
          <a:xfrm>
            <a:off x="1060704" y="5641848"/>
            <a:ext cx="1325880" cy="164592"/>
          </a:xfrm>
          <a:prstGeom prst="rect">
            <a:avLst/>
          </a:prstGeom>
          <a:noFill/>
          <a:ln/>
        </p:spPr>
        <p:txBody>
          <a:bodyPr wrap="square" lIns="0" tIns="0" rIns="0" bIns="0" rtlCol="0" anchor="ctr"/>
          <a:lstStyle/>
          <a:p>
            <a:pPr indent="0" marL="0">
              <a:buNone/>
            </a:pPr>
            <a:r>
              <a:rPr lang="en-US" sz="1050" b="1" dirty="0">
                <a:solidFill>
                  <a:srgbClr val="44D18C"/>
                </a:solidFill>
              </a:rPr>
              <a:t>EVENT</a:t>
            </a:r>
            <a:endParaRPr lang="en-US" sz="1050" dirty="0"/>
          </a:p>
        </p:txBody>
      </p:sp>
      <p:sp>
        <p:nvSpPr>
          <p:cNvPr id="51" name="Text 49"/>
          <p:cNvSpPr/>
          <p:nvPr/>
        </p:nvSpPr>
        <p:spPr>
          <a:xfrm>
            <a:off x="2148840" y="5614416"/>
            <a:ext cx="1783080" cy="182880"/>
          </a:xfrm>
          <a:prstGeom prst="rect">
            <a:avLst/>
          </a:prstGeom>
          <a:noFill/>
          <a:ln/>
        </p:spPr>
        <p:txBody>
          <a:bodyPr wrap="square" lIns="0" tIns="0" rIns="0" bIns="0" rtlCol="0" anchor="ctr"/>
          <a:lstStyle/>
          <a:p>
            <a:pPr algn="r" indent="0" marL="0">
              <a:buNone/>
            </a:pPr>
            <a:r>
              <a:rPr lang="en-US" sz="1100" b="1" dirty="0">
                <a:solidFill>
                  <a:srgbClr val="F6F9FC"/>
                </a:solidFill>
              </a:rPr>
              <a:t>Skor ≥ 8</a:t>
            </a:r>
            <a:endParaRPr lang="en-US" sz="1100" dirty="0"/>
          </a:p>
        </p:txBody>
      </p:sp>
      <p:sp>
        <p:nvSpPr>
          <p:cNvPr id="52" name="Text 50"/>
          <p:cNvSpPr/>
          <p:nvPr/>
        </p:nvSpPr>
        <p:spPr>
          <a:xfrm>
            <a:off x="1060704" y="5879592"/>
            <a:ext cx="2788920" cy="137160"/>
          </a:xfrm>
          <a:prstGeom prst="rect">
            <a:avLst/>
          </a:prstGeom>
          <a:noFill/>
          <a:ln/>
        </p:spPr>
        <p:txBody>
          <a:bodyPr wrap="square" lIns="0" tIns="0" rIns="0" bIns="0" rtlCol="0" anchor="ctr"/>
          <a:lstStyle/>
          <a:p>
            <a:pPr algn="r" indent="0" marL="0">
              <a:buNone/>
            </a:pPr>
            <a:r>
              <a:rPr lang="en-US" sz="880" dirty="0">
                <a:solidFill>
                  <a:srgbClr val="9FB0C3"/>
                </a:solidFill>
              </a:rPr>
              <a:t>ve 2. adaydan fark ≥ 2</a:t>
            </a:r>
            <a:endParaRPr lang="en-US" sz="880" dirty="0"/>
          </a:p>
        </p:txBody>
      </p:sp>
      <p:sp>
        <p:nvSpPr>
          <p:cNvPr id="53" name="Shape 51"/>
          <p:cNvSpPr/>
          <p:nvPr/>
        </p:nvSpPr>
        <p:spPr>
          <a:xfrm>
            <a:off x="4453128" y="5532120"/>
            <a:ext cx="3273552" cy="685800"/>
          </a:xfrm>
          <a:prstGeom prst="roundRect">
            <a:avLst>
              <a:gd name="adj" fmla="val 13333"/>
            </a:avLst>
          </a:prstGeom>
          <a:solidFill>
            <a:srgbClr val="0D1B2D"/>
          </a:solidFill>
          <a:ln w="12700">
            <a:solidFill>
              <a:srgbClr val="22354D"/>
            </a:solidFill>
            <a:prstDash val="solid"/>
          </a:ln>
        </p:spPr>
      </p:sp>
      <p:sp>
        <p:nvSpPr>
          <p:cNvPr id="54" name="Text 52"/>
          <p:cNvSpPr/>
          <p:nvPr/>
        </p:nvSpPr>
        <p:spPr>
          <a:xfrm>
            <a:off x="4599432" y="5641848"/>
            <a:ext cx="1325880" cy="164592"/>
          </a:xfrm>
          <a:prstGeom prst="rect">
            <a:avLst/>
          </a:prstGeom>
          <a:noFill/>
          <a:ln/>
        </p:spPr>
        <p:txBody>
          <a:bodyPr wrap="square" lIns="0" tIns="0" rIns="0" bIns="0" rtlCol="0" anchor="ctr"/>
          <a:lstStyle/>
          <a:p>
            <a:pPr indent="0" marL="0">
              <a:buNone/>
            </a:pPr>
            <a:r>
              <a:rPr lang="en-US" sz="1050" b="1" dirty="0">
                <a:solidFill>
                  <a:srgbClr val="9B8CFF"/>
                </a:solidFill>
              </a:rPr>
              <a:t>UNCERTAIN</a:t>
            </a:r>
            <a:endParaRPr lang="en-US" sz="1050" dirty="0"/>
          </a:p>
        </p:txBody>
      </p:sp>
      <p:sp>
        <p:nvSpPr>
          <p:cNvPr id="55" name="Text 53"/>
          <p:cNvSpPr/>
          <p:nvPr/>
        </p:nvSpPr>
        <p:spPr>
          <a:xfrm>
            <a:off x="5687568" y="5614416"/>
            <a:ext cx="1783080" cy="182880"/>
          </a:xfrm>
          <a:prstGeom prst="rect">
            <a:avLst/>
          </a:prstGeom>
          <a:noFill/>
          <a:ln/>
        </p:spPr>
        <p:txBody>
          <a:bodyPr wrap="square" lIns="0" tIns="0" rIns="0" bIns="0" rtlCol="0" anchor="ctr"/>
          <a:lstStyle/>
          <a:p>
            <a:pPr algn="r" indent="0" marL="0">
              <a:buNone/>
            </a:pPr>
            <a:r>
              <a:rPr lang="en-US" sz="1100" b="1" dirty="0">
                <a:solidFill>
                  <a:srgbClr val="F6F9FC"/>
                </a:solidFill>
              </a:rPr>
              <a:t>Kısmi / çelişkili kanıt</a:t>
            </a:r>
            <a:endParaRPr lang="en-US" sz="1100" dirty="0"/>
          </a:p>
        </p:txBody>
      </p:sp>
      <p:sp>
        <p:nvSpPr>
          <p:cNvPr id="56" name="Text 54"/>
          <p:cNvSpPr/>
          <p:nvPr/>
        </p:nvSpPr>
        <p:spPr>
          <a:xfrm>
            <a:off x="4599432" y="5879592"/>
            <a:ext cx="2788920" cy="137160"/>
          </a:xfrm>
          <a:prstGeom prst="rect">
            <a:avLst/>
          </a:prstGeom>
          <a:noFill/>
          <a:ln/>
        </p:spPr>
        <p:txBody>
          <a:bodyPr wrap="square" lIns="0" tIns="0" rIns="0" bIns="0" rtlCol="0" anchor="ctr"/>
          <a:lstStyle/>
          <a:p>
            <a:pPr algn="r" indent="0" marL="0">
              <a:buNone/>
            </a:pPr>
            <a:r>
              <a:rPr lang="en-US" sz="880" dirty="0">
                <a:solidFill>
                  <a:srgbClr val="9FB0C3"/>
                </a:solidFill>
              </a:rPr>
              <a:t>zorla olaya bağlanmaz</a:t>
            </a:r>
            <a:endParaRPr lang="en-US" sz="880" dirty="0"/>
          </a:p>
        </p:txBody>
      </p:sp>
      <p:sp>
        <p:nvSpPr>
          <p:cNvPr id="57" name="Shape 55"/>
          <p:cNvSpPr/>
          <p:nvPr/>
        </p:nvSpPr>
        <p:spPr>
          <a:xfrm>
            <a:off x="7991856" y="5532120"/>
            <a:ext cx="3273552" cy="685800"/>
          </a:xfrm>
          <a:prstGeom prst="roundRect">
            <a:avLst>
              <a:gd name="adj" fmla="val 13333"/>
            </a:avLst>
          </a:prstGeom>
          <a:solidFill>
            <a:srgbClr val="0D1B2D"/>
          </a:solidFill>
          <a:ln w="12700">
            <a:solidFill>
              <a:srgbClr val="22354D"/>
            </a:solidFill>
            <a:prstDash val="solid"/>
          </a:ln>
        </p:spPr>
      </p:sp>
      <p:sp>
        <p:nvSpPr>
          <p:cNvPr id="58" name="Text 56"/>
          <p:cNvSpPr/>
          <p:nvPr/>
        </p:nvSpPr>
        <p:spPr>
          <a:xfrm>
            <a:off x="8138160" y="5641848"/>
            <a:ext cx="1325880" cy="164592"/>
          </a:xfrm>
          <a:prstGeom prst="rect">
            <a:avLst/>
          </a:prstGeom>
          <a:noFill/>
          <a:ln/>
        </p:spPr>
        <p:txBody>
          <a:bodyPr wrap="square" lIns="0" tIns="0" rIns="0" bIns="0" rtlCol="0" anchor="ctr"/>
          <a:lstStyle/>
          <a:p>
            <a:pPr indent="0" marL="0">
              <a:buNone/>
            </a:pPr>
            <a:r>
              <a:rPr lang="en-US" sz="1050" b="1" dirty="0">
                <a:solidFill>
                  <a:srgbClr val="FFB84D"/>
                </a:solidFill>
              </a:rPr>
              <a:t>NOISE CANDIDATE</a:t>
            </a:r>
            <a:endParaRPr lang="en-US" sz="1050" dirty="0"/>
          </a:p>
        </p:txBody>
      </p:sp>
      <p:sp>
        <p:nvSpPr>
          <p:cNvPr id="59" name="Text 57"/>
          <p:cNvSpPr/>
          <p:nvPr/>
        </p:nvSpPr>
        <p:spPr>
          <a:xfrm>
            <a:off x="9226296" y="5614416"/>
            <a:ext cx="1783080" cy="182880"/>
          </a:xfrm>
          <a:prstGeom prst="rect">
            <a:avLst/>
          </a:prstGeom>
          <a:noFill/>
          <a:ln/>
        </p:spPr>
        <p:txBody>
          <a:bodyPr wrap="square" lIns="0" tIns="0" rIns="0" bIns="0" rtlCol="0" anchor="ctr"/>
          <a:lstStyle/>
          <a:p>
            <a:pPr algn="r" indent="0" marL="0">
              <a:buNone/>
            </a:pPr>
            <a:r>
              <a:rPr lang="en-US" sz="1100" b="1" dirty="0">
                <a:solidFill>
                  <a:srgbClr val="F6F9FC"/>
                </a:solidFill>
              </a:rPr>
              <a:t>Anlamlı bağ yok</a:t>
            </a:r>
            <a:endParaRPr lang="en-US" sz="1100" dirty="0"/>
          </a:p>
        </p:txBody>
      </p:sp>
      <p:sp>
        <p:nvSpPr>
          <p:cNvPr id="60" name="Text 58"/>
          <p:cNvSpPr/>
          <p:nvPr/>
        </p:nvSpPr>
        <p:spPr>
          <a:xfrm>
            <a:off x="8138160" y="5879592"/>
            <a:ext cx="2788920" cy="137160"/>
          </a:xfrm>
          <a:prstGeom prst="rect">
            <a:avLst/>
          </a:prstGeom>
          <a:noFill/>
          <a:ln/>
        </p:spPr>
        <p:txBody>
          <a:bodyPr wrap="square" lIns="0" tIns="0" rIns="0" bIns="0" rtlCol="0" anchor="ctr"/>
          <a:lstStyle/>
          <a:p>
            <a:pPr algn="r" indent="0" marL="0">
              <a:buNone/>
            </a:pPr>
            <a:r>
              <a:rPr lang="en-US" sz="880" dirty="0">
                <a:solidFill>
                  <a:srgbClr val="9FB0C3"/>
                </a:solidFill>
              </a:rPr>
              <a:t>audit kaydı korunur</a:t>
            </a:r>
            <a:endParaRPr lang="en-US" sz="880" dirty="0"/>
          </a:p>
        </p:txBody>
      </p:sp>
      <p:sp>
        <p:nvSpPr>
          <p:cNvPr id="25" name="Slide Number Placeholder 0"/>
          <p:cNvSpPr>
            <a:spLocks noGrp="1"/>
          </p:cNvSpPr>
          <p:nvPr>
            <p:ph type="sldNum" sz="quarter" idx="4294967295"/>
          </p:nvPr>
        </p:nvSpPr>
        <p:spPr>
          <a:xfrm>
            <a:off x="11686032" y="6519672"/>
            <a:ext cx="228600" cy="164592"/>
          </a:xfrm>
          <a:prstGeom prst="rect">
            <a:avLst/>
          </a:prstGeom>
          <a:extLst>
            <a:ext uri="{C572A759-6A51-4108-AA02-DFA0A04FC94B}">
              <ma14:wrappingTextBoxFlag xmlns:ma14="http://schemas.microsoft.com/office/mac/drawingml/2011/main" val="0"/>
            </a:ext>
          </a:extLst>
        </p:spPr>
        <p:txBody>
          <a:bodyPr/>
          <a:lstStyle>
            <a:lvl1pPr>
              <a:defRPr sz="850">
                <a:solidFill>
                  <a:srgbClr val="6F8299"/>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347472"/>
            <a:ext cx="3840480" cy="219456"/>
          </a:xfrm>
          <a:prstGeom prst="rect">
            <a:avLst/>
          </a:prstGeom>
          <a:noFill/>
          <a:ln/>
        </p:spPr>
        <p:txBody>
          <a:bodyPr wrap="square" lIns="0" tIns="0" rIns="0" bIns="0" rtlCol="0" anchor="ctr"/>
          <a:lstStyle/>
          <a:p>
            <a:pPr indent="0" marL="0">
              <a:buNone/>
            </a:pPr>
            <a:r>
              <a:rPr lang="en-US" sz="1000" b="1" spc="170" kern="0" dirty="0">
                <a:solidFill>
                  <a:srgbClr val="20D6C7"/>
                </a:solidFill>
              </a:rPr>
              <a:t>3 — AI NEREDE DEVREYE GIRIYOR?</a:t>
            </a:r>
            <a:endParaRPr lang="en-US" sz="1000" dirty="0"/>
          </a:p>
        </p:txBody>
      </p:sp>
      <p:sp>
        <p:nvSpPr>
          <p:cNvPr id="3" name="Text 1"/>
          <p:cNvSpPr/>
          <p:nvPr/>
        </p:nvSpPr>
        <p:spPr>
          <a:xfrm>
            <a:off x="530352" y="658368"/>
            <a:ext cx="10881360" cy="502920"/>
          </a:xfrm>
          <a:prstGeom prst="rect">
            <a:avLst/>
          </a:prstGeom>
          <a:noFill/>
          <a:ln/>
        </p:spPr>
        <p:txBody>
          <a:bodyPr wrap="square" lIns="0" tIns="0" rIns="0" bIns="0" rtlCol="0" anchor="ctr"/>
          <a:lstStyle/>
          <a:p>
            <a:pPr indent="0" marL="0">
              <a:buNone/>
            </a:pPr>
            <a:r>
              <a:rPr lang="en-US" sz="2700" b="1" dirty="0">
                <a:solidFill>
                  <a:srgbClr val="F6F9FC"/>
                </a:solidFill>
              </a:rPr>
              <a:t>Kararı LLM vermiyor; AI hesaplanmış kanıtı açıklıyor</a:t>
            </a:r>
            <a:endParaRPr lang="en-US" sz="2700" dirty="0"/>
          </a:p>
        </p:txBody>
      </p:sp>
      <p:sp>
        <p:nvSpPr>
          <p:cNvPr id="4" name="Text 2"/>
          <p:cNvSpPr/>
          <p:nvPr/>
        </p:nvSpPr>
        <p:spPr>
          <a:xfrm>
            <a:off x="530352" y="1225296"/>
            <a:ext cx="10881360" cy="329184"/>
          </a:xfrm>
          <a:prstGeom prst="rect">
            <a:avLst/>
          </a:prstGeom>
          <a:noFill/>
          <a:ln/>
        </p:spPr>
        <p:txBody>
          <a:bodyPr wrap="square" lIns="0" tIns="0" rIns="0" bIns="0" rtlCol="0" anchor="ctr"/>
          <a:lstStyle/>
          <a:p>
            <a:pPr indent="0" marL="0">
              <a:buNone/>
            </a:pPr>
            <a:r>
              <a:rPr lang="en-US" sz="1350" dirty="0">
                <a:solidFill>
                  <a:srgbClr val="9FB0C3"/>
                </a:solidFill>
              </a:rPr>
              <a:t>Aynı veri her çalıştırmada aynı sonucu üretir. AI katmanı yalnızca operatör için anlatıyı sadeleştirir.</a:t>
            </a:r>
            <a:endParaRPr lang="en-US" sz="1350" dirty="0"/>
          </a:p>
        </p:txBody>
      </p:sp>
      <p:sp>
        <p:nvSpPr>
          <p:cNvPr id="5" name="Shape 3"/>
          <p:cNvSpPr/>
          <p:nvPr/>
        </p:nvSpPr>
        <p:spPr>
          <a:xfrm>
            <a:off x="713232" y="1828800"/>
            <a:ext cx="3108960" cy="2907792"/>
          </a:xfrm>
          <a:prstGeom prst="roundRect">
            <a:avLst>
              <a:gd name="adj" fmla="val 3145"/>
            </a:avLst>
          </a:prstGeom>
          <a:solidFill>
            <a:srgbClr val="0D1B2D"/>
          </a:solidFill>
          <a:ln w="12700">
            <a:solidFill>
              <a:srgbClr val="22354D"/>
            </a:solidFill>
            <a:prstDash val="solid"/>
          </a:ln>
        </p:spPr>
      </p:sp>
      <p:sp>
        <p:nvSpPr>
          <p:cNvPr id="6" name="Text 4"/>
          <p:cNvSpPr/>
          <p:nvPr/>
        </p:nvSpPr>
        <p:spPr>
          <a:xfrm>
            <a:off x="914400" y="2029968"/>
            <a:ext cx="384048" cy="201168"/>
          </a:xfrm>
          <a:prstGeom prst="rect">
            <a:avLst/>
          </a:prstGeom>
          <a:noFill/>
          <a:ln/>
        </p:spPr>
        <p:txBody>
          <a:bodyPr wrap="square" lIns="0" tIns="0" rIns="0" bIns="0" rtlCol="0" anchor="ctr"/>
          <a:lstStyle/>
          <a:p>
            <a:pPr indent="0" marL="0">
              <a:buNone/>
            </a:pPr>
            <a:r>
              <a:rPr lang="en-US" sz="1100" b="1" dirty="0">
                <a:solidFill>
                  <a:srgbClr val="20D6C7"/>
                </a:solidFill>
              </a:rPr>
              <a:t>01</a:t>
            </a:r>
            <a:endParaRPr lang="en-US" sz="1100" dirty="0"/>
          </a:p>
        </p:txBody>
      </p:sp>
      <p:sp>
        <p:nvSpPr>
          <p:cNvPr id="7" name="Text 5"/>
          <p:cNvSpPr/>
          <p:nvPr/>
        </p:nvSpPr>
        <p:spPr>
          <a:xfrm>
            <a:off x="914400" y="2395728"/>
            <a:ext cx="2697480" cy="237744"/>
          </a:xfrm>
          <a:prstGeom prst="rect">
            <a:avLst/>
          </a:prstGeom>
          <a:noFill/>
          <a:ln/>
        </p:spPr>
        <p:txBody>
          <a:bodyPr wrap="square" lIns="0" tIns="0" rIns="0" bIns="0" rtlCol="0" anchor="ctr"/>
          <a:lstStyle/>
          <a:p>
            <a:pPr indent="0" marL="0">
              <a:buNone/>
            </a:pPr>
            <a:r>
              <a:rPr lang="en-US" sz="1200" b="1" spc="70" kern="0" dirty="0">
                <a:solidFill>
                  <a:srgbClr val="F6F9FC"/>
                </a:solidFill>
              </a:rPr>
              <a:t>CORRELATION ENGINE</a:t>
            </a:r>
            <a:endParaRPr lang="en-US" sz="1200" dirty="0"/>
          </a:p>
        </p:txBody>
      </p:sp>
      <p:sp>
        <p:nvSpPr>
          <p:cNvPr id="8" name="Text 6"/>
          <p:cNvSpPr/>
          <p:nvPr/>
        </p:nvSpPr>
        <p:spPr>
          <a:xfrm>
            <a:off x="914400" y="2834640"/>
            <a:ext cx="2697480" cy="320040"/>
          </a:xfrm>
          <a:prstGeom prst="rect">
            <a:avLst/>
          </a:prstGeom>
          <a:noFill/>
          <a:ln/>
        </p:spPr>
        <p:txBody>
          <a:bodyPr wrap="square" lIns="0" tIns="0" rIns="0" bIns="0" rtlCol="0" anchor="ctr"/>
          <a:lstStyle/>
          <a:p>
            <a:pPr indent="0" marL="0">
              <a:buNone/>
            </a:pPr>
            <a:r>
              <a:rPr lang="en-US" sz="2100" b="1" dirty="0">
                <a:solidFill>
                  <a:srgbClr val="20D6C7"/>
                </a:solidFill>
              </a:rPr>
              <a:t>KARAR VERİR</a:t>
            </a:r>
            <a:endParaRPr lang="en-US" sz="2100" dirty="0"/>
          </a:p>
        </p:txBody>
      </p:sp>
      <p:sp>
        <p:nvSpPr>
          <p:cNvPr id="9" name="Shape 7"/>
          <p:cNvSpPr/>
          <p:nvPr/>
        </p:nvSpPr>
        <p:spPr>
          <a:xfrm>
            <a:off x="932688" y="3429000"/>
            <a:ext cx="91440" cy="91440"/>
          </a:xfrm>
          <a:prstGeom prst="ellipse">
            <a:avLst/>
          </a:prstGeom>
          <a:solidFill>
            <a:srgbClr val="20D6C7"/>
          </a:solidFill>
          <a:ln w="12700">
            <a:solidFill>
              <a:srgbClr val="20D6C7"/>
            </a:solidFill>
            <a:prstDash val="solid"/>
          </a:ln>
        </p:spPr>
      </p:sp>
      <p:sp>
        <p:nvSpPr>
          <p:cNvPr id="10" name="Text 8"/>
          <p:cNvSpPr/>
          <p:nvPr/>
        </p:nvSpPr>
        <p:spPr>
          <a:xfrm>
            <a:off x="1133856" y="3364992"/>
            <a:ext cx="2331720" cy="219456"/>
          </a:xfrm>
          <a:prstGeom prst="rect">
            <a:avLst/>
          </a:prstGeom>
          <a:noFill/>
          <a:ln/>
        </p:spPr>
        <p:txBody>
          <a:bodyPr wrap="square" lIns="0" tIns="0" rIns="0" bIns="0" rtlCol="0" anchor="ctr"/>
          <a:lstStyle/>
          <a:p>
            <a:pPr indent="0" marL="0">
              <a:buNone/>
            </a:pPr>
            <a:r>
              <a:rPr lang="en-US" sz="1100" dirty="0">
                <a:solidFill>
                  <a:srgbClr val="9FB0C3"/>
                </a:solidFill>
              </a:rPr>
              <a:t>Kanıtları toplar</a:t>
            </a:r>
            <a:endParaRPr lang="en-US" sz="1100" dirty="0"/>
          </a:p>
        </p:txBody>
      </p:sp>
      <p:sp>
        <p:nvSpPr>
          <p:cNvPr id="11" name="Shape 9"/>
          <p:cNvSpPr/>
          <p:nvPr/>
        </p:nvSpPr>
        <p:spPr>
          <a:xfrm>
            <a:off x="932688" y="3785616"/>
            <a:ext cx="91440" cy="91440"/>
          </a:xfrm>
          <a:prstGeom prst="ellipse">
            <a:avLst/>
          </a:prstGeom>
          <a:solidFill>
            <a:srgbClr val="20D6C7"/>
          </a:solidFill>
          <a:ln w="12700">
            <a:solidFill>
              <a:srgbClr val="20D6C7"/>
            </a:solidFill>
            <a:prstDash val="solid"/>
          </a:ln>
        </p:spPr>
      </p:sp>
      <p:sp>
        <p:nvSpPr>
          <p:cNvPr id="12" name="Text 10"/>
          <p:cNvSpPr/>
          <p:nvPr/>
        </p:nvSpPr>
        <p:spPr>
          <a:xfrm>
            <a:off x="1133856" y="3721608"/>
            <a:ext cx="2331720" cy="219456"/>
          </a:xfrm>
          <a:prstGeom prst="rect">
            <a:avLst/>
          </a:prstGeom>
          <a:noFill/>
          <a:ln/>
        </p:spPr>
        <p:txBody>
          <a:bodyPr wrap="square" lIns="0" tIns="0" rIns="0" bIns="0" rtlCol="0" anchor="ctr"/>
          <a:lstStyle/>
          <a:p>
            <a:pPr indent="0" marL="0">
              <a:buNone/>
            </a:pPr>
            <a:r>
              <a:rPr lang="en-US" sz="1100" dirty="0">
                <a:solidFill>
                  <a:srgbClr val="9FB0C3"/>
                </a:solidFill>
              </a:rPr>
              <a:t>Skorlar ve sınıflandırır</a:t>
            </a:r>
            <a:endParaRPr lang="en-US" sz="1100" dirty="0"/>
          </a:p>
        </p:txBody>
      </p:sp>
      <p:sp>
        <p:nvSpPr>
          <p:cNvPr id="13" name="Shape 11"/>
          <p:cNvSpPr/>
          <p:nvPr/>
        </p:nvSpPr>
        <p:spPr>
          <a:xfrm>
            <a:off x="932688" y="4142232"/>
            <a:ext cx="91440" cy="91440"/>
          </a:xfrm>
          <a:prstGeom prst="ellipse">
            <a:avLst/>
          </a:prstGeom>
          <a:solidFill>
            <a:srgbClr val="20D6C7"/>
          </a:solidFill>
          <a:ln w="12700">
            <a:solidFill>
              <a:srgbClr val="20D6C7"/>
            </a:solidFill>
            <a:prstDash val="solid"/>
          </a:ln>
        </p:spPr>
      </p:sp>
      <p:sp>
        <p:nvSpPr>
          <p:cNvPr id="14" name="Text 12"/>
          <p:cNvSpPr/>
          <p:nvPr/>
        </p:nvSpPr>
        <p:spPr>
          <a:xfrm>
            <a:off x="1133856" y="4078224"/>
            <a:ext cx="2331720" cy="219456"/>
          </a:xfrm>
          <a:prstGeom prst="rect">
            <a:avLst/>
          </a:prstGeom>
          <a:noFill/>
          <a:ln/>
        </p:spPr>
        <p:txBody>
          <a:bodyPr wrap="square" lIns="0" tIns="0" rIns="0" bIns="0" rtlCol="0" anchor="ctr"/>
          <a:lstStyle/>
          <a:p>
            <a:pPr indent="0" marL="0">
              <a:buNone/>
            </a:pPr>
            <a:r>
              <a:rPr lang="en-US" sz="1100" dirty="0">
                <a:solidFill>
                  <a:srgbClr val="9FB0C3"/>
                </a:solidFill>
              </a:rPr>
              <a:t>Event / Noise / Uncertain</a:t>
            </a:r>
            <a:endParaRPr lang="en-US" sz="1100" dirty="0"/>
          </a:p>
        </p:txBody>
      </p:sp>
      <p:sp>
        <p:nvSpPr>
          <p:cNvPr id="15" name="Shape 13"/>
          <p:cNvSpPr/>
          <p:nvPr/>
        </p:nvSpPr>
        <p:spPr>
          <a:xfrm>
            <a:off x="3986784" y="2926080"/>
            <a:ext cx="438912" cy="658368"/>
          </a:xfrm>
          <a:prstGeom prst="chevron">
            <a:avLst/>
          </a:prstGeom>
          <a:solidFill>
            <a:srgbClr val="28415F"/>
          </a:solidFill>
          <a:ln w="12700">
            <a:solidFill>
              <a:srgbClr val="28415F"/>
            </a:solidFill>
            <a:prstDash val="solid"/>
          </a:ln>
        </p:spPr>
      </p:sp>
      <p:sp>
        <p:nvSpPr>
          <p:cNvPr id="16" name="Shape 14"/>
          <p:cNvSpPr/>
          <p:nvPr/>
        </p:nvSpPr>
        <p:spPr>
          <a:xfrm>
            <a:off x="4544568" y="1828800"/>
            <a:ext cx="3108960" cy="2907792"/>
          </a:xfrm>
          <a:prstGeom prst="roundRect">
            <a:avLst>
              <a:gd name="adj" fmla="val 3145"/>
            </a:avLst>
          </a:prstGeom>
          <a:solidFill>
            <a:srgbClr val="0D1B2D"/>
          </a:solidFill>
          <a:ln w="12700">
            <a:solidFill>
              <a:srgbClr val="22354D"/>
            </a:solidFill>
            <a:prstDash val="solid"/>
          </a:ln>
        </p:spPr>
      </p:sp>
      <p:sp>
        <p:nvSpPr>
          <p:cNvPr id="17" name="Text 15"/>
          <p:cNvSpPr/>
          <p:nvPr/>
        </p:nvSpPr>
        <p:spPr>
          <a:xfrm>
            <a:off x="4745736" y="2029968"/>
            <a:ext cx="384048" cy="201168"/>
          </a:xfrm>
          <a:prstGeom prst="rect">
            <a:avLst/>
          </a:prstGeom>
          <a:noFill/>
          <a:ln/>
        </p:spPr>
        <p:txBody>
          <a:bodyPr wrap="square" lIns="0" tIns="0" rIns="0" bIns="0" rtlCol="0" anchor="ctr"/>
          <a:lstStyle/>
          <a:p>
            <a:pPr indent="0" marL="0">
              <a:buNone/>
            </a:pPr>
            <a:r>
              <a:rPr lang="en-US" sz="1100" b="1" dirty="0">
                <a:solidFill>
                  <a:srgbClr val="9B8CFF"/>
                </a:solidFill>
              </a:rPr>
              <a:t>02</a:t>
            </a:r>
            <a:endParaRPr lang="en-US" sz="1100" dirty="0"/>
          </a:p>
        </p:txBody>
      </p:sp>
      <p:sp>
        <p:nvSpPr>
          <p:cNvPr id="18" name="Text 16"/>
          <p:cNvSpPr/>
          <p:nvPr/>
        </p:nvSpPr>
        <p:spPr>
          <a:xfrm>
            <a:off x="4745736" y="2395728"/>
            <a:ext cx="2697480" cy="237744"/>
          </a:xfrm>
          <a:prstGeom prst="rect">
            <a:avLst/>
          </a:prstGeom>
          <a:noFill/>
          <a:ln/>
        </p:spPr>
        <p:txBody>
          <a:bodyPr wrap="square" lIns="0" tIns="0" rIns="0" bIns="0" rtlCol="0" anchor="ctr"/>
          <a:lstStyle/>
          <a:p>
            <a:pPr indent="0" marL="0">
              <a:buNone/>
            </a:pPr>
            <a:r>
              <a:rPr lang="en-US" sz="1200" b="1" spc="70" kern="0" dirty="0">
                <a:solidFill>
                  <a:srgbClr val="F6F9FC"/>
                </a:solidFill>
              </a:rPr>
              <a:t>AI REASONING</a:t>
            </a:r>
            <a:endParaRPr lang="en-US" sz="1200" dirty="0"/>
          </a:p>
        </p:txBody>
      </p:sp>
      <p:sp>
        <p:nvSpPr>
          <p:cNvPr id="19" name="Text 17"/>
          <p:cNvSpPr/>
          <p:nvPr/>
        </p:nvSpPr>
        <p:spPr>
          <a:xfrm>
            <a:off x="4745736" y="2834640"/>
            <a:ext cx="2697480" cy="320040"/>
          </a:xfrm>
          <a:prstGeom prst="rect">
            <a:avLst/>
          </a:prstGeom>
          <a:noFill/>
          <a:ln/>
        </p:spPr>
        <p:txBody>
          <a:bodyPr wrap="square" lIns="0" tIns="0" rIns="0" bIns="0" rtlCol="0" anchor="ctr"/>
          <a:lstStyle/>
          <a:p>
            <a:pPr indent="0" marL="0">
              <a:buNone/>
            </a:pPr>
            <a:r>
              <a:rPr lang="en-US" sz="2100" b="1" dirty="0">
                <a:solidFill>
                  <a:srgbClr val="9B8CFF"/>
                </a:solidFill>
              </a:rPr>
              <a:t>AÇIKLAR</a:t>
            </a:r>
            <a:endParaRPr lang="en-US" sz="2100" dirty="0"/>
          </a:p>
        </p:txBody>
      </p:sp>
      <p:sp>
        <p:nvSpPr>
          <p:cNvPr id="20" name="Shape 18"/>
          <p:cNvSpPr/>
          <p:nvPr/>
        </p:nvSpPr>
        <p:spPr>
          <a:xfrm>
            <a:off x="4764024" y="3429000"/>
            <a:ext cx="91440" cy="91440"/>
          </a:xfrm>
          <a:prstGeom prst="ellipse">
            <a:avLst/>
          </a:prstGeom>
          <a:solidFill>
            <a:srgbClr val="9B8CFF"/>
          </a:solidFill>
          <a:ln w="12700">
            <a:solidFill>
              <a:srgbClr val="9B8CFF"/>
            </a:solidFill>
            <a:prstDash val="solid"/>
          </a:ln>
        </p:spPr>
      </p:sp>
      <p:sp>
        <p:nvSpPr>
          <p:cNvPr id="21" name="Text 19"/>
          <p:cNvSpPr/>
          <p:nvPr/>
        </p:nvSpPr>
        <p:spPr>
          <a:xfrm>
            <a:off x="4965192" y="3364992"/>
            <a:ext cx="2331720" cy="219456"/>
          </a:xfrm>
          <a:prstGeom prst="rect">
            <a:avLst/>
          </a:prstGeom>
          <a:noFill/>
          <a:ln/>
        </p:spPr>
        <p:txBody>
          <a:bodyPr wrap="square" lIns="0" tIns="0" rIns="0" bIns="0" rtlCol="0" anchor="ctr"/>
          <a:lstStyle/>
          <a:p>
            <a:pPr indent="0" marL="0">
              <a:buNone/>
            </a:pPr>
            <a:r>
              <a:rPr lang="en-US" sz="1100" dirty="0">
                <a:solidFill>
                  <a:srgbClr val="9FB0C3"/>
                </a:solidFill>
              </a:rPr>
              <a:t>Root cause gerekçesi</a:t>
            </a:r>
            <a:endParaRPr lang="en-US" sz="1100" dirty="0"/>
          </a:p>
        </p:txBody>
      </p:sp>
      <p:sp>
        <p:nvSpPr>
          <p:cNvPr id="22" name="Shape 20"/>
          <p:cNvSpPr/>
          <p:nvPr/>
        </p:nvSpPr>
        <p:spPr>
          <a:xfrm>
            <a:off x="4764024" y="3785616"/>
            <a:ext cx="91440" cy="91440"/>
          </a:xfrm>
          <a:prstGeom prst="ellipse">
            <a:avLst/>
          </a:prstGeom>
          <a:solidFill>
            <a:srgbClr val="9B8CFF"/>
          </a:solidFill>
          <a:ln w="12700">
            <a:solidFill>
              <a:srgbClr val="9B8CFF"/>
            </a:solidFill>
            <a:prstDash val="solid"/>
          </a:ln>
        </p:spPr>
      </p:sp>
      <p:sp>
        <p:nvSpPr>
          <p:cNvPr id="23" name="Text 21"/>
          <p:cNvSpPr/>
          <p:nvPr/>
        </p:nvSpPr>
        <p:spPr>
          <a:xfrm>
            <a:off x="4965192" y="3721608"/>
            <a:ext cx="2331720" cy="219456"/>
          </a:xfrm>
          <a:prstGeom prst="rect">
            <a:avLst/>
          </a:prstGeom>
          <a:noFill/>
          <a:ln/>
        </p:spPr>
        <p:txBody>
          <a:bodyPr wrap="square" lIns="0" tIns="0" rIns="0" bIns="0" rtlCol="0" anchor="ctr"/>
          <a:lstStyle/>
          <a:p>
            <a:pPr indent="0" marL="0">
              <a:buNone/>
            </a:pPr>
            <a:r>
              <a:rPr lang="en-US" sz="1100" dirty="0">
                <a:solidFill>
                  <a:srgbClr val="9FB0C3"/>
                </a:solidFill>
              </a:rPr>
              <a:t>Karşı olasılık</a:t>
            </a:r>
            <a:endParaRPr lang="en-US" sz="1100" dirty="0"/>
          </a:p>
        </p:txBody>
      </p:sp>
      <p:sp>
        <p:nvSpPr>
          <p:cNvPr id="24" name="Shape 22"/>
          <p:cNvSpPr/>
          <p:nvPr/>
        </p:nvSpPr>
        <p:spPr>
          <a:xfrm>
            <a:off x="4764024" y="4142232"/>
            <a:ext cx="91440" cy="91440"/>
          </a:xfrm>
          <a:prstGeom prst="ellipse">
            <a:avLst/>
          </a:prstGeom>
          <a:solidFill>
            <a:srgbClr val="9B8CFF"/>
          </a:solidFill>
          <a:ln w="12700">
            <a:solidFill>
              <a:srgbClr val="9B8CFF"/>
            </a:solidFill>
            <a:prstDash val="solid"/>
          </a:ln>
        </p:spPr>
      </p:sp>
      <p:sp>
        <p:nvSpPr>
          <p:cNvPr id="25" name="Text 23"/>
          <p:cNvSpPr/>
          <p:nvPr/>
        </p:nvSpPr>
        <p:spPr>
          <a:xfrm>
            <a:off x="4965192" y="4078224"/>
            <a:ext cx="2331720" cy="219456"/>
          </a:xfrm>
          <a:prstGeom prst="rect">
            <a:avLst/>
          </a:prstGeom>
          <a:noFill/>
          <a:ln/>
        </p:spPr>
        <p:txBody>
          <a:bodyPr wrap="square" lIns="0" tIns="0" rIns="0" bIns="0" rtlCol="0" anchor="ctr"/>
          <a:lstStyle/>
          <a:p>
            <a:pPr indent="0" marL="0">
              <a:buNone/>
            </a:pPr>
            <a:r>
              <a:rPr lang="en-US" sz="1100" dirty="0">
                <a:solidFill>
                  <a:srgbClr val="9FB0C3"/>
                </a:solidFill>
              </a:rPr>
              <a:t>İlk aksiyon özeti</a:t>
            </a:r>
            <a:endParaRPr lang="en-US" sz="1100" dirty="0"/>
          </a:p>
        </p:txBody>
      </p:sp>
      <p:sp>
        <p:nvSpPr>
          <p:cNvPr id="26" name="Shape 24"/>
          <p:cNvSpPr/>
          <p:nvPr/>
        </p:nvSpPr>
        <p:spPr>
          <a:xfrm>
            <a:off x="7818120" y="2926080"/>
            <a:ext cx="438912" cy="658368"/>
          </a:xfrm>
          <a:prstGeom prst="chevron">
            <a:avLst/>
          </a:prstGeom>
          <a:solidFill>
            <a:srgbClr val="28415F"/>
          </a:solidFill>
          <a:ln w="12700">
            <a:solidFill>
              <a:srgbClr val="28415F"/>
            </a:solidFill>
            <a:prstDash val="solid"/>
          </a:ln>
        </p:spPr>
      </p:sp>
      <p:sp>
        <p:nvSpPr>
          <p:cNvPr id="27" name="Shape 25"/>
          <p:cNvSpPr/>
          <p:nvPr/>
        </p:nvSpPr>
        <p:spPr>
          <a:xfrm>
            <a:off x="8375904" y="1828800"/>
            <a:ext cx="3108960" cy="2907792"/>
          </a:xfrm>
          <a:prstGeom prst="roundRect">
            <a:avLst>
              <a:gd name="adj" fmla="val 3145"/>
            </a:avLst>
          </a:prstGeom>
          <a:solidFill>
            <a:srgbClr val="0D1B2D"/>
          </a:solidFill>
          <a:ln w="12700">
            <a:solidFill>
              <a:srgbClr val="22354D"/>
            </a:solidFill>
            <a:prstDash val="solid"/>
          </a:ln>
        </p:spPr>
      </p:sp>
      <p:sp>
        <p:nvSpPr>
          <p:cNvPr id="28" name="Text 26"/>
          <p:cNvSpPr/>
          <p:nvPr/>
        </p:nvSpPr>
        <p:spPr>
          <a:xfrm>
            <a:off x="8577072" y="2029968"/>
            <a:ext cx="384048" cy="201168"/>
          </a:xfrm>
          <a:prstGeom prst="rect">
            <a:avLst/>
          </a:prstGeom>
          <a:noFill/>
          <a:ln/>
        </p:spPr>
        <p:txBody>
          <a:bodyPr wrap="square" lIns="0" tIns="0" rIns="0" bIns="0" rtlCol="0" anchor="ctr"/>
          <a:lstStyle/>
          <a:p>
            <a:pPr indent="0" marL="0">
              <a:buNone/>
            </a:pPr>
            <a:r>
              <a:rPr lang="en-US" sz="1100" b="1" dirty="0">
                <a:solidFill>
                  <a:srgbClr val="44D18C"/>
                </a:solidFill>
              </a:rPr>
              <a:t>03</a:t>
            </a:r>
            <a:endParaRPr lang="en-US" sz="1100" dirty="0"/>
          </a:p>
        </p:txBody>
      </p:sp>
      <p:sp>
        <p:nvSpPr>
          <p:cNvPr id="29" name="Text 27"/>
          <p:cNvSpPr/>
          <p:nvPr/>
        </p:nvSpPr>
        <p:spPr>
          <a:xfrm>
            <a:off x="8577072" y="2395728"/>
            <a:ext cx="2697480" cy="237744"/>
          </a:xfrm>
          <a:prstGeom prst="rect">
            <a:avLst/>
          </a:prstGeom>
          <a:noFill/>
          <a:ln/>
        </p:spPr>
        <p:txBody>
          <a:bodyPr wrap="square" lIns="0" tIns="0" rIns="0" bIns="0" rtlCol="0" anchor="ctr"/>
          <a:lstStyle/>
          <a:p>
            <a:pPr indent="0" marL="0">
              <a:buNone/>
            </a:pPr>
            <a:r>
              <a:rPr lang="en-US" sz="1200" b="1" spc="70" kern="0" dirty="0">
                <a:solidFill>
                  <a:srgbClr val="F6F9FC"/>
                </a:solidFill>
              </a:rPr>
              <a:t>OPERATOR</a:t>
            </a:r>
            <a:endParaRPr lang="en-US" sz="1200" dirty="0"/>
          </a:p>
        </p:txBody>
      </p:sp>
      <p:sp>
        <p:nvSpPr>
          <p:cNvPr id="30" name="Text 28"/>
          <p:cNvSpPr/>
          <p:nvPr/>
        </p:nvSpPr>
        <p:spPr>
          <a:xfrm>
            <a:off x="8577072" y="2834640"/>
            <a:ext cx="2697480" cy="320040"/>
          </a:xfrm>
          <a:prstGeom prst="rect">
            <a:avLst/>
          </a:prstGeom>
          <a:noFill/>
          <a:ln/>
        </p:spPr>
        <p:txBody>
          <a:bodyPr wrap="square" lIns="0" tIns="0" rIns="0" bIns="0" rtlCol="0" anchor="ctr"/>
          <a:lstStyle/>
          <a:p>
            <a:pPr indent="0" marL="0">
              <a:buNone/>
            </a:pPr>
            <a:r>
              <a:rPr lang="en-US" sz="2100" b="1" dirty="0">
                <a:solidFill>
                  <a:srgbClr val="44D18C"/>
                </a:solidFill>
              </a:rPr>
              <a:t>AKSİYON ALIR</a:t>
            </a:r>
            <a:endParaRPr lang="en-US" sz="2100" dirty="0"/>
          </a:p>
        </p:txBody>
      </p:sp>
      <p:sp>
        <p:nvSpPr>
          <p:cNvPr id="31" name="Shape 29"/>
          <p:cNvSpPr/>
          <p:nvPr/>
        </p:nvSpPr>
        <p:spPr>
          <a:xfrm>
            <a:off x="8595360" y="3429000"/>
            <a:ext cx="91440" cy="91440"/>
          </a:xfrm>
          <a:prstGeom prst="ellipse">
            <a:avLst/>
          </a:prstGeom>
          <a:solidFill>
            <a:srgbClr val="44D18C"/>
          </a:solidFill>
          <a:ln w="12700">
            <a:solidFill>
              <a:srgbClr val="44D18C"/>
            </a:solidFill>
            <a:prstDash val="solid"/>
          </a:ln>
        </p:spPr>
      </p:sp>
      <p:sp>
        <p:nvSpPr>
          <p:cNvPr id="32" name="Text 30"/>
          <p:cNvSpPr/>
          <p:nvPr/>
        </p:nvSpPr>
        <p:spPr>
          <a:xfrm>
            <a:off x="8796528" y="3364992"/>
            <a:ext cx="2331720" cy="219456"/>
          </a:xfrm>
          <a:prstGeom prst="rect">
            <a:avLst/>
          </a:prstGeom>
          <a:noFill/>
          <a:ln/>
        </p:spPr>
        <p:txBody>
          <a:bodyPr wrap="square" lIns="0" tIns="0" rIns="0" bIns="0" rtlCol="0" anchor="ctr"/>
          <a:lstStyle/>
          <a:p>
            <a:pPr indent="0" marL="0">
              <a:buNone/>
            </a:pPr>
            <a:r>
              <a:rPr lang="en-US" sz="1100" dirty="0">
                <a:solidFill>
                  <a:srgbClr val="9FB0C3"/>
                </a:solidFill>
              </a:rPr>
              <a:t>Kanıtı inceler</a:t>
            </a:r>
            <a:endParaRPr lang="en-US" sz="1100" dirty="0"/>
          </a:p>
        </p:txBody>
      </p:sp>
      <p:sp>
        <p:nvSpPr>
          <p:cNvPr id="33" name="Shape 31"/>
          <p:cNvSpPr/>
          <p:nvPr/>
        </p:nvSpPr>
        <p:spPr>
          <a:xfrm>
            <a:off x="8595360" y="3785616"/>
            <a:ext cx="91440" cy="91440"/>
          </a:xfrm>
          <a:prstGeom prst="ellipse">
            <a:avLst/>
          </a:prstGeom>
          <a:solidFill>
            <a:srgbClr val="44D18C"/>
          </a:solidFill>
          <a:ln w="12700">
            <a:solidFill>
              <a:srgbClr val="44D18C"/>
            </a:solidFill>
            <a:prstDash val="solid"/>
          </a:ln>
        </p:spPr>
      </p:sp>
      <p:sp>
        <p:nvSpPr>
          <p:cNvPr id="34" name="Text 32"/>
          <p:cNvSpPr/>
          <p:nvPr/>
        </p:nvSpPr>
        <p:spPr>
          <a:xfrm>
            <a:off x="8796528" y="3721608"/>
            <a:ext cx="2331720" cy="219456"/>
          </a:xfrm>
          <a:prstGeom prst="rect">
            <a:avLst/>
          </a:prstGeom>
          <a:noFill/>
          <a:ln/>
        </p:spPr>
        <p:txBody>
          <a:bodyPr wrap="square" lIns="0" tIns="0" rIns="0" bIns="0" rtlCol="0" anchor="ctr"/>
          <a:lstStyle/>
          <a:p>
            <a:pPr indent="0" marL="0">
              <a:buNone/>
            </a:pPr>
            <a:r>
              <a:rPr lang="en-US" sz="1100" dirty="0">
                <a:solidFill>
                  <a:srgbClr val="9FB0C3"/>
                </a:solidFill>
              </a:rPr>
              <a:t>Owner / durum günceller</a:t>
            </a:r>
            <a:endParaRPr lang="en-US" sz="1100" dirty="0"/>
          </a:p>
        </p:txBody>
      </p:sp>
      <p:sp>
        <p:nvSpPr>
          <p:cNvPr id="35" name="Shape 33"/>
          <p:cNvSpPr/>
          <p:nvPr/>
        </p:nvSpPr>
        <p:spPr>
          <a:xfrm>
            <a:off x="8595360" y="4142232"/>
            <a:ext cx="91440" cy="91440"/>
          </a:xfrm>
          <a:prstGeom prst="ellipse">
            <a:avLst/>
          </a:prstGeom>
          <a:solidFill>
            <a:srgbClr val="44D18C"/>
          </a:solidFill>
          <a:ln w="12700">
            <a:solidFill>
              <a:srgbClr val="44D18C"/>
            </a:solidFill>
            <a:prstDash val="solid"/>
          </a:ln>
        </p:spPr>
      </p:sp>
      <p:sp>
        <p:nvSpPr>
          <p:cNvPr id="36" name="Text 34"/>
          <p:cNvSpPr/>
          <p:nvPr/>
        </p:nvSpPr>
        <p:spPr>
          <a:xfrm>
            <a:off x="8796528" y="4078224"/>
            <a:ext cx="2331720" cy="219456"/>
          </a:xfrm>
          <a:prstGeom prst="rect">
            <a:avLst/>
          </a:prstGeom>
          <a:noFill/>
          <a:ln/>
        </p:spPr>
        <p:txBody>
          <a:bodyPr wrap="square" lIns="0" tIns="0" rIns="0" bIns="0" rtlCol="0" anchor="ctr"/>
          <a:lstStyle/>
          <a:p>
            <a:pPr indent="0" marL="0">
              <a:buNone/>
            </a:pPr>
            <a:r>
              <a:rPr lang="en-US" sz="1100" dirty="0">
                <a:solidFill>
                  <a:srgbClr val="9FB0C3"/>
                </a:solidFill>
              </a:rPr>
              <a:t>Resolve eder</a:t>
            </a:r>
            <a:endParaRPr lang="en-US" sz="1100" dirty="0"/>
          </a:p>
        </p:txBody>
      </p:sp>
      <p:sp>
        <p:nvSpPr>
          <p:cNvPr id="37" name="Shape 35"/>
          <p:cNvSpPr/>
          <p:nvPr/>
        </p:nvSpPr>
        <p:spPr>
          <a:xfrm>
            <a:off x="914400" y="5138928"/>
            <a:ext cx="10360152" cy="859536"/>
          </a:xfrm>
          <a:prstGeom prst="roundRect">
            <a:avLst>
              <a:gd name="adj" fmla="val 10638"/>
            </a:avLst>
          </a:prstGeom>
          <a:solidFill>
            <a:srgbClr val="0A1625"/>
          </a:solidFill>
          <a:ln w="12700">
            <a:solidFill>
              <a:srgbClr val="1D3652"/>
            </a:solidFill>
            <a:prstDash val="solid"/>
          </a:ln>
        </p:spPr>
      </p:sp>
      <p:sp>
        <p:nvSpPr>
          <p:cNvPr id="38" name="Text 36"/>
          <p:cNvSpPr/>
          <p:nvPr/>
        </p:nvSpPr>
        <p:spPr>
          <a:xfrm>
            <a:off x="1124712" y="5330952"/>
            <a:ext cx="1691640" cy="164592"/>
          </a:xfrm>
          <a:prstGeom prst="rect">
            <a:avLst/>
          </a:prstGeom>
          <a:noFill/>
          <a:ln/>
        </p:spPr>
        <p:txBody>
          <a:bodyPr wrap="square" lIns="0" tIns="0" rIns="0" bIns="0" rtlCol="0" anchor="ctr"/>
          <a:lstStyle/>
          <a:p>
            <a:pPr indent="0" marL="0">
              <a:buNone/>
            </a:pPr>
            <a:r>
              <a:rPr lang="en-US" sz="950" b="1" spc="110" kern="0" dirty="0">
                <a:solidFill>
                  <a:srgbClr val="20D6C7"/>
                </a:solidFill>
              </a:rPr>
              <a:t>JÜRİYE TEK CÜMLE</a:t>
            </a:r>
            <a:endParaRPr lang="en-US" sz="950" dirty="0"/>
          </a:p>
        </p:txBody>
      </p:sp>
      <p:sp>
        <p:nvSpPr>
          <p:cNvPr id="39" name="Text 37"/>
          <p:cNvSpPr/>
          <p:nvPr/>
        </p:nvSpPr>
        <p:spPr>
          <a:xfrm>
            <a:off x="2788920" y="5230368"/>
            <a:ext cx="8092440" cy="438912"/>
          </a:xfrm>
          <a:prstGeom prst="rect">
            <a:avLst/>
          </a:prstGeom>
          <a:noFill/>
          <a:ln/>
        </p:spPr>
        <p:txBody>
          <a:bodyPr wrap="square" lIns="0" tIns="0" rIns="0" bIns="0" rtlCol="0" anchor="ctr"/>
          <a:lstStyle/>
          <a:p>
            <a:pPr indent="0" marL="0">
              <a:buNone/>
            </a:pPr>
            <a:r>
              <a:rPr lang="en-US" sz="1550" b="1" dirty="0">
                <a:solidFill>
                  <a:srgbClr val="F6F9FC"/>
                </a:solidFill>
              </a:rPr>
              <a:t>“AI kafasına göre alarm seçmiyor; deterministic engine kanıt üretip karar veriyor, AI bu kararı insanın birkaç saniyede anlayacağı dile çeviriyor.”</a:t>
            </a:r>
            <a:endParaRPr lang="en-US" sz="1550" dirty="0"/>
          </a:p>
        </p:txBody>
      </p:sp>
      <p:sp>
        <p:nvSpPr>
          <p:cNvPr id="40" name="Text 38"/>
          <p:cNvSpPr/>
          <p:nvPr/>
        </p:nvSpPr>
        <p:spPr>
          <a:xfrm>
            <a:off x="2103120" y="6236208"/>
            <a:ext cx="2148840" cy="210312"/>
          </a:xfrm>
          <a:prstGeom prst="rect">
            <a:avLst/>
          </a:prstGeom>
          <a:noFill/>
          <a:ln/>
        </p:spPr>
        <p:txBody>
          <a:bodyPr wrap="square" lIns="0" tIns="0" rIns="0" bIns="0" rtlCol="0" anchor="ctr"/>
          <a:lstStyle/>
          <a:p>
            <a:pPr algn="ctr" indent="0" marL="0">
              <a:buNone/>
            </a:pPr>
            <a:r>
              <a:rPr lang="en-US" sz="1100" b="1" dirty="0">
                <a:solidFill>
                  <a:srgbClr val="20D6C7"/>
                </a:solidFill>
              </a:rPr>
              <a:t>CORRELATION ENGINE</a:t>
            </a:r>
            <a:endParaRPr lang="en-US" sz="1100" dirty="0"/>
          </a:p>
        </p:txBody>
      </p:sp>
      <p:sp>
        <p:nvSpPr>
          <p:cNvPr id="41" name="Text 39"/>
          <p:cNvSpPr/>
          <p:nvPr/>
        </p:nvSpPr>
        <p:spPr>
          <a:xfrm>
            <a:off x="4279392" y="6208776"/>
            <a:ext cx="384048" cy="228600"/>
          </a:xfrm>
          <a:prstGeom prst="rect">
            <a:avLst/>
          </a:prstGeom>
          <a:noFill/>
          <a:ln/>
        </p:spPr>
        <p:txBody>
          <a:bodyPr wrap="square" lIns="0" tIns="0" rIns="0" bIns="0" rtlCol="0" anchor="ctr"/>
          <a:lstStyle/>
          <a:p>
            <a:pPr algn="ctr" indent="0" marL="0">
              <a:buNone/>
            </a:pPr>
            <a:r>
              <a:rPr lang="en-US" sz="1800" b="1" dirty="0">
                <a:solidFill>
                  <a:srgbClr val="6F8299"/>
                </a:solidFill>
              </a:rPr>
              <a:t>→</a:t>
            </a:r>
            <a:endParaRPr lang="en-US" sz="1800" dirty="0"/>
          </a:p>
        </p:txBody>
      </p:sp>
      <p:sp>
        <p:nvSpPr>
          <p:cNvPr id="42" name="Text 40"/>
          <p:cNvSpPr/>
          <p:nvPr/>
        </p:nvSpPr>
        <p:spPr>
          <a:xfrm>
            <a:off x="4709160" y="6236208"/>
            <a:ext cx="914400" cy="210312"/>
          </a:xfrm>
          <a:prstGeom prst="rect">
            <a:avLst/>
          </a:prstGeom>
          <a:noFill/>
          <a:ln/>
        </p:spPr>
        <p:txBody>
          <a:bodyPr wrap="square" lIns="0" tIns="0" rIns="0" bIns="0" rtlCol="0" anchor="ctr"/>
          <a:lstStyle/>
          <a:p>
            <a:pPr algn="ctr" indent="0" marL="0">
              <a:buNone/>
            </a:pPr>
            <a:r>
              <a:rPr lang="en-US" sz="1100" b="1" dirty="0">
                <a:solidFill>
                  <a:srgbClr val="9B8CFF"/>
                </a:solidFill>
              </a:rPr>
              <a:t>AI</a:t>
            </a:r>
            <a:endParaRPr lang="en-US" sz="1100" dirty="0"/>
          </a:p>
        </p:txBody>
      </p:sp>
      <p:sp>
        <p:nvSpPr>
          <p:cNvPr id="43" name="Text 41"/>
          <p:cNvSpPr/>
          <p:nvPr/>
        </p:nvSpPr>
        <p:spPr>
          <a:xfrm>
            <a:off x="5650992" y="6208776"/>
            <a:ext cx="384048" cy="228600"/>
          </a:xfrm>
          <a:prstGeom prst="rect">
            <a:avLst/>
          </a:prstGeom>
          <a:noFill/>
          <a:ln/>
        </p:spPr>
        <p:txBody>
          <a:bodyPr wrap="square" lIns="0" tIns="0" rIns="0" bIns="0" rtlCol="0" anchor="ctr"/>
          <a:lstStyle/>
          <a:p>
            <a:pPr algn="ctr" indent="0" marL="0">
              <a:buNone/>
            </a:pPr>
            <a:r>
              <a:rPr lang="en-US" sz="1800" b="1" dirty="0">
                <a:solidFill>
                  <a:srgbClr val="6F8299"/>
                </a:solidFill>
              </a:rPr>
              <a:t>→</a:t>
            </a:r>
            <a:endParaRPr lang="en-US" sz="1800" dirty="0"/>
          </a:p>
        </p:txBody>
      </p:sp>
      <p:sp>
        <p:nvSpPr>
          <p:cNvPr id="44" name="Text 42"/>
          <p:cNvSpPr/>
          <p:nvPr/>
        </p:nvSpPr>
        <p:spPr>
          <a:xfrm>
            <a:off x="6099048" y="6236208"/>
            <a:ext cx="1234440" cy="210312"/>
          </a:xfrm>
          <a:prstGeom prst="rect">
            <a:avLst/>
          </a:prstGeom>
          <a:noFill/>
          <a:ln/>
        </p:spPr>
        <p:txBody>
          <a:bodyPr wrap="square" lIns="0" tIns="0" rIns="0" bIns="0" rtlCol="0" anchor="ctr"/>
          <a:lstStyle/>
          <a:p>
            <a:pPr algn="ctr" indent="0" marL="0">
              <a:buNone/>
            </a:pPr>
            <a:r>
              <a:rPr lang="en-US" sz="1100" b="1" dirty="0">
                <a:solidFill>
                  <a:srgbClr val="44D18C"/>
                </a:solidFill>
              </a:rPr>
              <a:t>OPERATOR</a:t>
            </a:r>
            <a:endParaRPr lang="en-US" sz="1100" dirty="0"/>
          </a:p>
        </p:txBody>
      </p:sp>
      <p:sp>
        <p:nvSpPr>
          <p:cNvPr id="45" name="Text 43"/>
          <p:cNvSpPr/>
          <p:nvPr/>
        </p:nvSpPr>
        <p:spPr>
          <a:xfrm>
            <a:off x="7479792" y="6236208"/>
            <a:ext cx="2697480" cy="210312"/>
          </a:xfrm>
          <a:prstGeom prst="rect">
            <a:avLst/>
          </a:prstGeom>
          <a:noFill/>
          <a:ln/>
        </p:spPr>
        <p:txBody>
          <a:bodyPr wrap="square" lIns="0" tIns="0" rIns="0" bIns="0" rtlCol="0" anchor="ctr"/>
          <a:lstStyle/>
          <a:p>
            <a:pPr algn="ctr" indent="0" marL="0">
              <a:buNone/>
            </a:pPr>
            <a:r>
              <a:rPr lang="en-US" sz="1000" b="1" dirty="0">
                <a:solidFill>
                  <a:srgbClr val="9FB0C3"/>
                </a:solidFill>
              </a:rPr>
              <a:t>= KARAR → AÇIKLAMA → AKSİYON</a:t>
            </a:r>
            <a:endParaRPr lang="en-US" sz="1000" dirty="0"/>
          </a:p>
        </p:txBody>
      </p:sp>
      <p:sp>
        <p:nvSpPr>
          <p:cNvPr id="25" name="Slide Number Placeholder 0"/>
          <p:cNvSpPr>
            <a:spLocks noGrp="1"/>
          </p:cNvSpPr>
          <p:nvPr>
            <p:ph type="sldNum" sz="quarter" idx="4294967295"/>
          </p:nvPr>
        </p:nvSpPr>
        <p:spPr>
          <a:xfrm>
            <a:off x="11686032" y="6519672"/>
            <a:ext cx="228600" cy="164592"/>
          </a:xfrm>
          <a:prstGeom prst="rect">
            <a:avLst/>
          </a:prstGeom>
          <a:extLst>
            <a:ext uri="{C572A759-6A51-4108-AA02-DFA0A04FC94B}">
              <ma14:wrappingTextBoxFlag xmlns:ma14="http://schemas.microsoft.com/office/mac/drawingml/2011/main" val="0"/>
            </a:ext>
          </a:extLst>
        </p:spPr>
        <p:txBody>
          <a:bodyPr/>
          <a:lstStyle>
            <a:lvl1pPr>
              <a:defRPr sz="850">
                <a:solidFill>
                  <a:srgbClr val="6F8299"/>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AO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ASI-OPS — Alarm Sınıflandırma</dc:title>
  <dc:subject>Alarm classification explanation</dc:subject>
  <dc:creator>ASI-OPS</dc:creator>
  <cp:lastModifiedBy>ASI-OPS</cp:lastModifiedBy>
  <cp:revision>1</cp:revision>
  <dcterms:created xsi:type="dcterms:W3CDTF">2026-09-16T14:10:49Z</dcterms:created>
  <dcterms:modified xsi:type="dcterms:W3CDTF">2026-09-16T14:10:49Z</dcterms:modified>
</cp:coreProperties>
</file>